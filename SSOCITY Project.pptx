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embeddedFontLst>
    <p:embeddedFont>
      <p:font typeface="Plus Jakarta Sans" panose="020B0604020202020204" charset="0"/>
      <p:regular r:id="rId28"/>
      <p:bold r:id="rId29"/>
      <p:italic r:id="rId30"/>
      <p:boldItalic r:id="rId31"/>
    </p:embeddedFont>
    <p:embeddedFont>
      <p:font typeface="Plus Jakarta Sans SemiBold" panose="020B0604020202020204" charset="0"/>
      <p:regular r:id="rId32"/>
      <p:bold r:id="rId33"/>
      <p:italic r:id="rId34"/>
      <p:boldItalic r:id="rId35"/>
    </p:embeddedFont>
    <p:embeddedFont>
      <p:font typeface="Space Grotesk" panose="020B0604020202020204" charset="0"/>
      <p:regular r:id="rId36"/>
      <p:bold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ACB26D-C934-4B15-AB5A-E5978AC60024}">
  <a:tblStyle styleId="{E9ACB26D-C934-4B15-AB5A-E5978AC6002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60"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1" name="Google Shape;32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8" name="Google Shape;348;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9" name="Google Shape;409;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p2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5" name="Google Shape;445;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6.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9.png"/><Relationship Id="rId4" Type="http://schemas.openxmlformats.org/officeDocument/2006/relationships/image" Target="../media/image38.png"/><Relationship Id="rId9"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650432" y="2233612"/>
            <a:ext cx="2890986" cy="323850"/>
          </a:xfrm>
          <a:prstGeom prst="rect">
            <a:avLst/>
          </a:prstGeom>
          <a:noFill/>
          <a:ln>
            <a:noFill/>
          </a:ln>
        </p:spPr>
      </p:pic>
      <p:sp>
        <p:nvSpPr>
          <p:cNvPr id="86" name="Google Shape;86;p13"/>
          <p:cNvSpPr txBox="1"/>
          <p:nvPr/>
        </p:nvSpPr>
        <p:spPr>
          <a:xfrm>
            <a:off x="3761709" y="2743200"/>
            <a:ext cx="4668431" cy="62324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50" b="1" i="0" u="none" strike="noStrike" cap="none" dirty="0">
                <a:solidFill>
                  <a:srgbClr val="FFFFFF"/>
                </a:solidFill>
                <a:latin typeface="Space Grotesk"/>
                <a:ea typeface="Space Grotesk"/>
                <a:cs typeface="Space Grotesk"/>
                <a:sym typeface="Space Grotesk"/>
              </a:rPr>
              <a:t>SSOCIETY Project</a:t>
            </a:r>
            <a:endParaRPr dirty="0"/>
          </a:p>
        </p:txBody>
      </p:sp>
      <p:sp>
        <p:nvSpPr>
          <p:cNvPr id="87" name="Google Shape;87;p13"/>
          <p:cNvSpPr txBox="1"/>
          <p:nvPr/>
        </p:nvSpPr>
        <p:spPr>
          <a:xfrm>
            <a:off x="2047875" y="3614737"/>
            <a:ext cx="8096250" cy="5715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9CA3AF"/>
                </a:solidFill>
                <a:latin typeface="Plus Jakarta Sans"/>
                <a:ea typeface="Plus Jakarta Sans"/>
                <a:cs typeface="Plus Jakarta Sans"/>
                <a:sym typeface="Plus Jakarta Sans"/>
              </a:rPr>
              <a:t>Automated Threat Analysis and SOAR Integration with SIEM and Virtual Tier-1 Analyst Pipelines</a:t>
            </a:r>
            <a:endParaRPr/>
          </a:p>
        </p:txBody>
      </p:sp>
      <p:sp>
        <p:nvSpPr>
          <p:cNvPr id="88" name="Google Shape;88;p13"/>
          <p:cNvSpPr txBox="1"/>
          <p:nvPr/>
        </p:nvSpPr>
        <p:spPr>
          <a:xfrm>
            <a:off x="4718149" y="4471987"/>
            <a:ext cx="2755701"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0" i="0" u="none" strike="noStrike" cap="none">
                <a:solidFill>
                  <a:srgbClr val="4B5563"/>
                </a:solidFill>
                <a:latin typeface="Plus Jakarta Sans SemiBold"/>
                <a:ea typeface="Plus Jakarta Sans SemiBold"/>
                <a:cs typeface="Plus Jakarta Sans SemiBold"/>
                <a:sym typeface="Plus Jakarta Sans SemiBold"/>
              </a:rPr>
              <a:t>GRADUATION PROJECT DEFENSE DECK</a:t>
            </a:r>
            <a:endParaRPr/>
          </a:p>
        </p:txBody>
      </p:sp>
      <p:pic>
        <p:nvPicPr>
          <p:cNvPr id="89" name="Google Shape;89;p13" descr="image.png"/>
          <p:cNvPicPr preferRelativeResize="0"/>
          <p:nvPr/>
        </p:nvPicPr>
        <p:blipFill rotWithShape="1">
          <a:blip r:embed="rId5">
            <a:alphaModFix/>
          </a:blip>
          <a:srcRect/>
          <a:stretch/>
        </p:blipFill>
        <p:spPr>
          <a:xfrm>
            <a:off x="4831407" y="2333625"/>
            <a:ext cx="130075" cy="1238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5" name="Google Shape;95;p14" descr="image.png"/>
          <p:cNvPicPr preferRelativeResize="0"/>
          <p:nvPr/>
        </p:nvPicPr>
        <p:blipFill rotWithShape="1">
          <a:blip r:embed="rId4">
            <a:alphaModFix/>
          </a:blip>
          <a:srcRect/>
          <a:stretch/>
        </p:blipFill>
        <p:spPr>
          <a:xfrm>
            <a:off x="771525" y="2913757"/>
            <a:ext cx="5133975" cy="1672232"/>
          </a:xfrm>
          <a:prstGeom prst="rect">
            <a:avLst/>
          </a:prstGeom>
          <a:noFill/>
          <a:ln>
            <a:noFill/>
          </a:ln>
        </p:spPr>
      </p:pic>
      <p:pic>
        <p:nvPicPr>
          <p:cNvPr id="96" name="Google Shape;96;p14" descr="image.png"/>
          <p:cNvPicPr preferRelativeResize="0"/>
          <p:nvPr/>
        </p:nvPicPr>
        <p:blipFill rotWithShape="1">
          <a:blip r:embed="rId5">
            <a:alphaModFix/>
          </a:blip>
          <a:srcRect/>
          <a:stretch/>
        </p:blipFill>
        <p:spPr>
          <a:xfrm>
            <a:off x="6286500" y="2913757"/>
            <a:ext cx="5133975" cy="1672232"/>
          </a:xfrm>
          <a:prstGeom prst="rect">
            <a:avLst/>
          </a:prstGeom>
          <a:noFill/>
          <a:ln>
            <a:noFill/>
          </a:ln>
        </p:spPr>
      </p:pic>
      <p:pic>
        <p:nvPicPr>
          <p:cNvPr id="97" name="Google Shape;97;p14"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98" name="Google Shape;98;p14"/>
          <p:cNvSpPr txBox="1"/>
          <p:nvPr/>
        </p:nvSpPr>
        <p:spPr>
          <a:xfrm>
            <a:off x="771525" y="6486525"/>
            <a:ext cx="5619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2 / 25</a:t>
            </a:r>
            <a:endParaRPr/>
          </a:p>
        </p:txBody>
      </p:sp>
      <p:sp>
        <p:nvSpPr>
          <p:cNvPr id="99" name="Google Shape;99;p14"/>
          <p:cNvSpPr txBox="1"/>
          <p:nvPr/>
        </p:nvSpPr>
        <p:spPr>
          <a:xfrm>
            <a:off x="9953625" y="6486525"/>
            <a:ext cx="14668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dirty="0">
                <a:solidFill>
                  <a:srgbClr val="4B5563"/>
                </a:solidFill>
                <a:latin typeface="Plus Jakarta Sans"/>
                <a:ea typeface="Plus Jakarta Sans"/>
                <a:cs typeface="Plus Jakarta Sans"/>
                <a:sym typeface="Plus Jakarta Sans"/>
              </a:rPr>
              <a:t>SSOCITY Executive Summary</a:t>
            </a:r>
            <a:endParaRPr dirty="0"/>
          </a:p>
        </p:txBody>
      </p:sp>
      <p:sp>
        <p:nvSpPr>
          <p:cNvPr id="100" name="Google Shape;100;p14"/>
          <p:cNvSpPr txBox="1"/>
          <p:nvPr/>
        </p:nvSpPr>
        <p:spPr>
          <a:xfrm>
            <a:off x="1009650" y="3151882"/>
            <a:ext cx="4890611"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38BDF8"/>
                </a:solidFill>
                <a:latin typeface="Space Grotesk"/>
                <a:ea typeface="Space Grotesk"/>
                <a:cs typeface="Space Grotesk"/>
                <a:sym typeface="Space Grotesk"/>
              </a:rPr>
              <a:t>The SSOCIETY Vision</a:t>
            </a:r>
            <a:endParaRPr dirty="0"/>
          </a:p>
        </p:txBody>
      </p:sp>
      <p:sp>
        <p:nvSpPr>
          <p:cNvPr id="101" name="Google Shape;101;p14"/>
          <p:cNvSpPr txBox="1"/>
          <p:nvPr/>
        </p:nvSpPr>
        <p:spPr>
          <a:xfrm>
            <a:off x="1009650" y="3494782"/>
            <a:ext cx="4657725" cy="85308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SSOCITY provides an integrated virtual framework for automated log collection, analysis, and alert routing. By designing robust, modern detection rules and merging SIEM with SOAR pipelines, the project bridges security operations with cognitive reasoning.</a:t>
            </a:r>
            <a:endParaRPr/>
          </a:p>
        </p:txBody>
      </p:sp>
      <p:sp>
        <p:nvSpPr>
          <p:cNvPr id="102" name="Google Shape;102;p14"/>
          <p:cNvSpPr txBox="1"/>
          <p:nvPr/>
        </p:nvSpPr>
        <p:spPr>
          <a:xfrm>
            <a:off x="6524625" y="3151882"/>
            <a:ext cx="489061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Cognitive Engineering</a:t>
            </a:r>
            <a:endParaRPr/>
          </a:p>
        </p:txBody>
      </p:sp>
      <p:sp>
        <p:nvSpPr>
          <p:cNvPr id="103" name="Google Shape;103;p14"/>
          <p:cNvSpPr txBox="1"/>
          <p:nvPr/>
        </p:nvSpPr>
        <p:spPr>
          <a:xfrm>
            <a:off x="6524625" y="3494782"/>
            <a:ext cx="4657725"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Implementing a virtual Tier-1 Analyst powered by Generative AI ensures security threats are contextualized and contained within milliseconds rather than hours, reducing overhead costs and alert fatigue significantly.</a:t>
            </a:r>
            <a:endParaRPr/>
          </a:p>
        </p:txBody>
      </p:sp>
      <p:sp>
        <p:nvSpPr>
          <p:cNvPr id="104" name="Google Shape;104;p14"/>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Executive Summary</a:t>
            </a:r>
            <a:endParaRPr/>
          </a:p>
        </p:txBody>
      </p:sp>
      <p:sp>
        <p:nvSpPr>
          <p:cNvPr id="105" name="Google Shape;105;p14"/>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141"/>
        <p:cNvGrpSpPr/>
        <p:nvPr/>
      </p:nvGrpSpPr>
      <p:grpSpPr>
        <a:xfrm>
          <a:off x="0" y="0"/>
          <a:ext cx="0" cy="0"/>
          <a:chOff x="0" y="0"/>
          <a:chExt cx="0" cy="0"/>
        </a:xfrm>
      </p:grpSpPr>
      <p:pic>
        <p:nvPicPr>
          <p:cNvPr id="142" name="Google Shape;142;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3" name="Google Shape;143;p16" descr="image.png"/>
          <p:cNvPicPr preferRelativeResize="0"/>
          <p:nvPr/>
        </p:nvPicPr>
        <p:blipFill rotWithShape="1">
          <a:blip r:embed="rId4">
            <a:alphaModFix/>
          </a:blip>
          <a:srcRect/>
          <a:stretch/>
        </p:blipFill>
        <p:spPr>
          <a:xfrm>
            <a:off x="771525" y="6381750"/>
            <a:ext cx="10648950" cy="228600"/>
          </a:xfrm>
          <a:prstGeom prst="rect">
            <a:avLst/>
          </a:prstGeom>
          <a:noFill/>
          <a:ln>
            <a:noFill/>
          </a:ln>
        </p:spPr>
      </p:pic>
      <p:sp>
        <p:nvSpPr>
          <p:cNvPr id="144" name="Google Shape;144;p16"/>
          <p:cNvSpPr txBox="1"/>
          <p:nvPr/>
        </p:nvSpPr>
        <p:spPr>
          <a:xfrm>
            <a:off x="771525" y="6486525"/>
            <a:ext cx="5619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4 / 25</a:t>
            </a:r>
            <a:endParaRPr/>
          </a:p>
        </p:txBody>
      </p:sp>
      <p:sp>
        <p:nvSpPr>
          <p:cNvPr id="145" name="Google Shape;145;p16"/>
          <p:cNvSpPr txBox="1"/>
          <p:nvPr/>
        </p:nvSpPr>
        <p:spPr>
          <a:xfrm>
            <a:off x="10525125" y="6486525"/>
            <a:ext cx="8953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Agenda Overview</a:t>
            </a:r>
            <a:endParaRPr/>
          </a:p>
        </p:txBody>
      </p:sp>
      <p:sp>
        <p:nvSpPr>
          <p:cNvPr id="146" name="Google Shape;146;p16"/>
          <p:cNvSpPr txBox="1"/>
          <p:nvPr/>
        </p:nvSpPr>
        <p:spPr>
          <a:xfrm>
            <a:off x="1038225" y="3256954"/>
            <a:ext cx="48672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1" i="0" u="none" strike="noStrike" cap="none">
                <a:solidFill>
                  <a:srgbClr val="D1D5DB"/>
                </a:solidFill>
                <a:latin typeface="Plus Jakarta Sans"/>
                <a:ea typeface="Plus Jakarta Sans"/>
                <a:cs typeface="Plus Jakarta Sans"/>
                <a:sym typeface="Plus Jakarta Sans"/>
              </a:rPr>
              <a:t>01. Introduction &amp; Cyber Threat Landscape</a:t>
            </a:r>
            <a:r>
              <a:rPr lang="en-US" sz="1125" b="0" i="0" u="none" strike="noStrike" cap="none">
                <a:solidFill>
                  <a:srgbClr val="D1D5DB"/>
                </a:solidFill>
                <a:latin typeface="Plus Jakarta Sans"/>
                <a:ea typeface="Plus Jakarta Sans"/>
                <a:cs typeface="Plus Jakarta Sans"/>
                <a:sym typeface="Plus Jakarta Sans"/>
              </a:rPr>
              <a:t> (Slides 5-8)</a:t>
            </a:r>
            <a:endParaRPr/>
          </a:p>
        </p:txBody>
      </p:sp>
      <p:sp>
        <p:nvSpPr>
          <p:cNvPr id="147" name="Google Shape;147;p16"/>
          <p:cNvSpPr txBox="1"/>
          <p:nvPr/>
        </p:nvSpPr>
        <p:spPr>
          <a:xfrm>
            <a:off x="1038225" y="3585567"/>
            <a:ext cx="48672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1" i="0" u="none" strike="noStrike" cap="none">
                <a:solidFill>
                  <a:srgbClr val="D1D5DB"/>
                </a:solidFill>
                <a:latin typeface="Plus Jakarta Sans"/>
                <a:ea typeface="Plus Jakarta Sans"/>
                <a:cs typeface="Plus Jakarta Sans"/>
                <a:sym typeface="Plus Jakarta Sans"/>
              </a:rPr>
              <a:t>02. Lab Architecture &amp; Design</a:t>
            </a:r>
            <a:r>
              <a:rPr lang="en-US" sz="1125" b="0" i="0" u="none" strike="noStrike" cap="none">
                <a:solidFill>
                  <a:srgbClr val="D1D5DB"/>
                </a:solidFill>
                <a:latin typeface="Plus Jakarta Sans"/>
                <a:ea typeface="Plus Jakarta Sans"/>
                <a:cs typeface="Plus Jakarta Sans"/>
                <a:sym typeface="Plus Jakarta Sans"/>
              </a:rPr>
              <a:t> (Slides 9-13)</a:t>
            </a:r>
            <a:endParaRPr/>
          </a:p>
        </p:txBody>
      </p:sp>
      <p:sp>
        <p:nvSpPr>
          <p:cNvPr id="148" name="Google Shape;148;p16"/>
          <p:cNvSpPr txBox="1"/>
          <p:nvPr/>
        </p:nvSpPr>
        <p:spPr>
          <a:xfrm>
            <a:off x="1038225" y="3914179"/>
            <a:ext cx="48672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1" i="0" u="none" strike="noStrike" cap="none">
                <a:solidFill>
                  <a:srgbClr val="D1D5DB"/>
                </a:solidFill>
                <a:latin typeface="Plus Jakarta Sans"/>
                <a:ea typeface="Plus Jakarta Sans"/>
                <a:cs typeface="Plus Jakarta Sans"/>
                <a:sym typeface="Plus Jakarta Sans"/>
              </a:rPr>
              <a:t>03. Customized Detection Engineering</a:t>
            </a:r>
            <a:r>
              <a:rPr lang="en-US" sz="1125" b="0" i="0" u="none" strike="noStrike" cap="none">
                <a:solidFill>
                  <a:srgbClr val="D1D5DB"/>
                </a:solidFill>
                <a:latin typeface="Plus Jakarta Sans"/>
                <a:ea typeface="Plus Jakarta Sans"/>
                <a:cs typeface="Plus Jakarta Sans"/>
                <a:sym typeface="Plus Jakarta Sans"/>
              </a:rPr>
              <a:t> (Slides 14-18)</a:t>
            </a:r>
            <a:endParaRPr/>
          </a:p>
        </p:txBody>
      </p:sp>
      <p:sp>
        <p:nvSpPr>
          <p:cNvPr id="149" name="Google Shape;149;p16"/>
          <p:cNvSpPr txBox="1"/>
          <p:nvPr/>
        </p:nvSpPr>
        <p:spPr>
          <a:xfrm>
            <a:off x="6553200" y="3421260"/>
            <a:ext cx="48672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1" i="0" u="none" strike="noStrike" cap="none">
                <a:solidFill>
                  <a:srgbClr val="D1D5DB"/>
                </a:solidFill>
                <a:latin typeface="Plus Jakarta Sans"/>
                <a:ea typeface="Plus Jakarta Sans"/>
                <a:cs typeface="Plus Jakarta Sans"/>
                <a:sym typeface="Plus Jakarta Sans"/>
              </a:rPr>
              <a:t>04. SOAR Playbooks &amp; AI Triage</a:t>
            </a:r>
            <a:r>
              <a:rPr lang="en-US" sz="1125" b="0" i="0" u="none" strike="noStrike" cap="none">
                <a:solidFill>
                  <a:srgbClr val="D1D5DB"/>
                </a:solidFill>
                <a:latin typeface="Plus Jakarta Sans"/>
                <a:ea typeface="Plus Jakarta Sans"/>
                <a:cs typeface="Plus Jakarta Sans"/>
                <a:sym typeface="Plus Jakarta Sans"/>
              </a:rPr>
              <a:t> (Slides 19-22)</a:t>
            </a:r>
            <a:endParaRPr/>
          </a:p>
        </p:txBody>
      </p:sp>
      <p:sp>
        <p:nvSpPr>
          <p:cNvPr id="150" name="Google Shape;150;p16"/>
          <p:cNvSpPr txBox="1"/>
          <p:nvPr/>
        </p:nvSpPr>
        <p:spPr>
          <a:xfrm>
            <a:off x="6553200" y="3749873"/>
            <a:ext cx="48672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1" i="0" u="none" strike="noStrike" cap="none">
                <a:solidFill>
                  <a:srgbClr val="D1D5DB"/>
                </a:solidFill>
                <a:latin typeface="Plus Jakarta Sans"/>
                <a:ea typeface="Plus Jakarta Sans"/>
                <a:cs typeface="Plus Jakarta Sans"/>
                <a:sym typeface="Plus Jakarta Sans"/>
              </a:rPr>
              <a:t>05. Validation, Hurdles &amp; Future Scope</a:t>
            </a:r>
            <a:r>
              <a:rPr lang="en-US" sz="1125" b="0" i="0" u="none" strike="noStrike" cap="none">
                <a:solidFill>
                  <a:srgbClr val="D1D5DB"/>
                </a:solidFill>
                <a:latin typeface="Plus Jakarta Sans"/>
                <a:ea typeface="Plus Jakarta Sans"/>
                <a:cs typeface="Plus Jakarta Sans"/>
                <a:sym typeface="Plus Jakarta Sans"/>
              </a:rPr>
              <a:t> (Slides 23-25)</a:t>
            </a:r>
            <a:endParaRPr/>
          </a:p>
        </p:txBody>
      </p:sp>
      <p:sp>
        <p:nvSpPr>
          <p:cNvPr id="151" name="Google Shape;151;p16"/>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Presentation Agenda</a:t>
            </a:r>
            <a:endParaRPr/>
          </a:p>
        </p:txBody>
      </p:sp>
      <p:sp>
        <p:nvSpPr>
          <p:cNvPr id="152" name="Google Shape;152;p16"/>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3" name="Google Shape;153;p16" descr="image.png"/>
          <p:cNvPicPr preferRelativeResize="0"/>
          <p:nvPr/>
        </p:nvPicPr>
        <p:blipFill rotWithShape="1">
          <a:blip r:embed="rId5">
            <a:alphaModFix/>
          </a:blip>
          <a:srcRect/>
          <a:stretch/>
        </p:blipFill>
        <p:spPr>
          <a:xfrm>
            <a:off x="771525" y="3276004"/>
            <a:ext cx="142875" cy="142875"/>
          </a:xfrm>
          <a:prstGeom prst="rect">
            <a:avLst/>
          </a:prstGeom>
          <a:noFill/>
          <a:ln>
            <a:noFill/>
          </a:ln>
        </p:spPr>
      </p:pic>
      <p:pic>
        <p:nvPicPr>
          <p:cNvPr id="154" name="Google Shape;154;p16" descr="image.png"/>
          <p:cNvPicPr preferRelativeResize="0"/>
          <p:nvPr/>
        </p:nvPicPr>
        <p:blipFill rotWithShape="1">
          <a:blip r:embed="rId5">
            <a:alphaModFix/>
          </a:blip>
          <a:srcRect/>
          <a:stretch/>
        </p:blipFill>
        <p:spPr>
          <a:xfrm>
            <a:off x="771525" y="3604617"/>
            <a:ext cx="142875" cy="142875"/>
          </a:xfrm>
          <a:prstGeom prst="rect">
            <a:avLst/>
          </a:prstGeom>
          <a:noFill/>
          <a:ln>
            <a:noFill/>
          </a:ln>
        </p:spPr>
      </p:pic>
      <p:pic>
        <p:nvPicPr>
          <p:cNvPr id="155" name="Google Shape;155;p16" descr="image.png"/>
          <p:cNvPicPr preferRelativeResize="0"/>
          <p:nvPr/>
        </p:nvPicPr>
        <p:blipFill rotWithShape="1">
          <a:blip r:embed="rId5">
            <a:alphaModFix/>
          </a:blip>
          <a:srcRect/>
          <a:stretch/>
        </p:blipFill>
        <p:spPr>
          <a:xfrm>
            <a:off x="771525" y="3933229"/>
            <a:ext cx="142875" cy="142875"/>
          </a:xfrm>
          <a:prstGeom prst="rect">
            <a:avLst/>
          </a:prstGeom>
          <a:noFill/>
          <a:ln>
            <a:noFill/>
          </a:ln>
        </p:spPr>
      </p:pic>
      <p:pic>
        <p:nvPicPr>
          <p:cNvPr id="156" name="Google Shape;156;p16" descr="image.png"/>
          <p:cNvPicPr preferRelativeResize="0"/>
          <p:nvPr/>
        </p:nvPicPr>
        <p:blipFill rotWithShape="1">
          <a:blip r:embed="rId5">
            <a:alphaModFix/>
          </a:blip>
          <a:srcRect/>
          <a:stretch/>
        </p:blipFill>
        <p:spPr>
          <a:xfrm>
            <a:off x="6286500" y="3440310"/>
            <a:ext cx="142875" cy="142875"/>
          </a:xfrm>
          <a:prstGeom prst="rect">
            <a:avLst/>
          </a:prstGeom>
          <a:noFill/>
          <a:ln>
            <a:noFill/>
          </a:ln>
        </p:spPr>
      </p:pic>
      <p:pic>
        <p:nvPicPr>
          <p:cNvPr id="157" name="Google Shape;157;p16" descr="image.png"/>
          <p:cNvPicPr preferRelativeResize="0"/>
          <p:nvPr/>
        </p:nvPicPr>
        <p:blipFill rotWithShape="1">
          <a:blip r:embed="rId5">
            <a:alphaModFix/>
          </a:blip>
          <a:srcRect/>
          <a:stretch/>
        </p:blipFill>
        <p:spPr>
          <a:xfrm>
            <a:off x="6286500" y="3768923"/>
            <a:ext cx="142875" cy="142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161"/>
        <p:cNvGrpSpPr/>
        <p:nvPr/>
      </p:nvGrpSpPr>
      <p:grpSpPr>
        <a:xfrm>
          <a:off x="0" y="0"/>
          <a:ext cx="0" cy="0"/>
          <a:chOff x="0" y="0"/>
          <a:chExt cx="0" cy="0"/>
        </a:xfrm>
      </p:grpSpPr>
      <p:pic>
        <p:nvPicPr>
          <p:cNvPr id="162" name="Google Shape;162;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3" name="Google Shape;163;p17"/>
          <p:cNvSpPr txBox="1"/>
          <p:nvPr/>
        </p:nvSpPr>
        <p:spPr>
          <a:xfrm>
            <a:off x="4827720" y="3052762"/>
            <a:ext cx="2536410" cy="628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FFFFFF"/>
                </a:solidFill>
                <a:latin typeface="Space Grotesk"/>
                <a:ea typeface="Space Grotesk"/>
                <a:cs typeface="Space Grotesk"/>
                <a:sym typeface="Space Grotesk"/>
              </a:rPr>
              <a:t>Section 01</a:t>
            </a:r>
            <a:endParaRPr/>
          </a:p>
        </p:txBody>
      </p:sp>
      <p:sp>
        <p:nvSpPr>
          <p:cNvPr id="164" name="Google Shape;164;p17"/>
          <p:cNvSpPr txBox="1"/>
          <p:nvPr/>
        </p:nvSpPr>
        <p:spPr>
          <a:xfrm>
            <a:off x="3881437" y="3824287"/>
            <a:ext cx="4429125"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CA3AF"/>
                </a:solidFill>
                <a:latin typeface="Plus Jakarta Sans"/>
                <a:ea typeface="Plus Jakarta Sans"/>
                <a:cs typeface="Plus Jakarta Sans"/>
                <a:sym typeface="Plus Jakarta Sans"/>
              </a:rPr>
              <a:t>Cyber Threat Landscape &amp; Traditional SOC Bottlenecks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168"/>
        <p:cNvGrpSpPr/>
        <p:nvPr/>
      </p:nvGrpSpPr>
      <p:grpSpPr>
        <a:xfrm>
          <a:off x="0" y="0"/>
          <a:ext cx="0" cy="0"/>
          <a:chOff x="0" y="0"/>
          <a:chExt cx="0" cy="0"/>
        </a:xfrm>
      </p:grpSpPr>
      <p:pic>
        <p:nvPicPr>
          <p:cNvPr id="169" name="Google Shape;169;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0" name="Google Shape;170;p18"/>
          <p:cNvSpPr txBox="1"/>
          <p:nvPr/>
        </p:nvSpPr>
        <p:spPr>
          <a:xfrm>
            <a:off x="962025" y="581025"/>
            <a:ext cx="5390673"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The Modern Cyber Threat Wave</a:t>
            </a:r>
            <a:endParaRPr/>
          </a:p>
        </p:txBody>
      </p:sp>
      <p:sp>
        <p:nvSpPr>
          <p:cNvPr id="171" name="Google Shape;171;p18"/>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2" name="Google Shape;172;p18" descr="image.png"/>
          <p:cNvPicPr preferRelativeResize="0"/>
          <p:nvPr/>
        </p:nvPicPr>
        <p:blipFill rotWithShape="1">
          <a:blip r:embed="rId4">
            <a:alphaModFix/>
          </a:blip>
          <a:srcRect/>
          <a:stretch/>
        </p:blipFill>
        <p:spPr>
          <a:xfrm>
            <a:off x="6096000" y="9525"/>
            <a:ext cx="6086475" cy="6858000"/>
          </a:xfrm>
          <a:prstGeom prst="rect">
            <a:avLst/>
          </a:prstGeom>
          <a:noFill/>
          <a:ln>
            <a:noFill/>
          </a:ln>
        </p:spPr>
      </p:pic>
      <p:sp>
        <p:nvSpPr>
          <p:cNvPr id="173" name="Google Shape;173;p18"/>
          <p:cNvSpPr txBox="1"/>
          <p:nvPr/>
        </p:nvSpPr>
        <p:spPr>
          <a:xfrm>
            <a:off x="771525" y="3290887"/>
            <a:ext cx="5324475" cy="42862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D1D5DB"/>
                </a:solidFill>
                <a:latin typeface="Plus Jakarta Sans"/>
                <a:ea typeface="Plus Jakarta Sans"/>
                <a:cs typeface="Plus Jakarta Sans"/>
                <a:sym typeface="Plus Jakarta Sans"/>
              </a:rPr>
              <a:t>As corporate network architectures expand, malicious actors execute polymorphic payloads that continuously slip past perimeter signature scans.</a:t>
            </a:r>
            <a:endParaRPr/>
          </a:p>
        </p:txBody>
      </p:sp>
      <p:sp>
        <p:nvSpPr>
          <p:cNvPr id="174" name="Google Shape;174;p18"/>
          <p:cNvSpPr txBox="1"/>
          <p:nvPr/>
        </p:nvSpPr>
        <p:spPr>
          <a:xfrm>
            <a:off x="771525" y="3862387"/>
            <a:ext cx="5324475" cy="346471"/>
          </a:xfrm>
          <a:prstGeom prst="rect">
            <a:avLst/>
          </a:prstGeom>
          <a:noFill/>
          <a:ln>
            <a:noFill/>
          </a:ln>
        </p:spPr>
        <p:txBody>
          <a:bodyPr spcFirstLastPara="1" wrap="square" lIns="0" tIns="0" rIns="0" bIns="0" anchor="t" anchorCtr="0">
            <a:spAutoFit/>
          </a:bodyPr>
          <a:lstStyle/>
          <a:p>
            <a:pPr marL="0" marR="0" lvl="0" indent="0" algn="l" rtl="0">
              <a:lnSpc>
                <a:spcPct val="139897"/>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Ransomware propagation, complex persistence scripts, and credential brute-forcing require intelligent real-time processing to counter threat velocity.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178"/>
        <p:cNvGrpSpPr/>
        <p:nvPr/>
      </p:nvGrpSpPr>
      <p:grpSpPr>
        <a:xfrm>
          <a:off x="0" y="0"/>
          <a:ext cx="0" cy="0"/>
          <a:chOff x="0" y="0"/>
          <a:chExt cx="0" cy="0"/>
        </a:xfrm>
      </p:grpSpPr>
      <p:pic>
        <p:nvPicPr>
          <p:cNvPr id="179" name="Google Shape;17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0" name="Google Shape;180;p19" descr="image.png"/>
          <p:cNvPicPr preferRelativeResize="0"/>
          <p:nvPr/>
        </p:nvPicPr>
        <p:blipFill rotWithShape="1">
          <a:blip r:embed="rId4">
            <a:alphaModFix/>
          </a:blip>
          <a:srcRect/>
          <a:stretch/>
        </p:blipFill>
        <p:spPr>
          <a:xfrm>
            <a:off x="771525" y="2847379"/>
            <a:ext cx="3422600" cy="1804987"/>
          </a:xfrm>
          <a:prstGeom prst="rect">
            <a:avLst/>
          </a:prstGeom>
          <a:noFill/>
          <a:ln>
            <a:noFill/>
          </a:ln>
        </p:spPr>
      </p:pic>
      <p:pic>
        <p:nvPicPr>
          <p:cNvPr id="181" name="Google Shape;181;p19" descr="image.png"/>
          <p:cNvPicPr preferRelativeResize="0"/>
          <p:nvPr/>
        </p:nvPicPr>
        <p:blipFill rotWithShape="1">
          <a:blip r:embed="rId4">
            <a:alphaModFix/>
          </a:blip>
          <a:srcRect/>
          <a:stretch/>
        </p:blipFill>
        <p:spPr>
          <a:xfrm>
            <a:off x="4384625" y="2847379"/>
            <a:ext cx="3422600" cy="1804987"/>
          </a:xfrm>
          <a:prstGeom prst="rect">
            <a:avLst/>
          </a:prstGeom>
          <a:noFill/>
          <a:ln>
            <a:noFill/>
          </a:ln>
        </p:spPr>
      </p:pic>
      <p:pic>
        <p:nvPicPr>
          <p:cNvPr id="182" name="Google Shape;182;p19" descr="image.png"/>
          <p:cNvPicPr preferRelativeResize="0"/>
          <p:nvPr/>
        </p:nvPicPr>
        <p:blipFill rotWithShape="1">
          <a:blip r:embed="rId5">
            <a:alphaModFix/>
          </a:blip>
          <a:srcRect/>
          <a:stretch/>
        </p:blipFill>
        <p:spPr>
          <a:xfrm>
            <a:off x="7997725" y="2847379"/>
            <a:ext cx="3422600" cy="1804987"/>
          </a:xfrm>
          <a:prstGeom prst="rect">
            <a:avLst/>
          </a:prstGeom>
          <a:noFill/>
          <a:ln>
            <a:noFill/>
          </a:ln>
        </p:spPr>
      </p:pic>
      <p:pic>
        <p:nvPicPr>
          <p:cNvPr id="183" name="Google Shape;183;p19"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184" name="Google Shape;184;p19"/>
          <p:cNvSpPr txBox="1"/>
          <p:nvPr/>
        </p:nvSpPr>
        <p:spPr>
          <a:xfrm>
            <a:off x="771525" y="6486525"/>
            <a:ext cx="5524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7 / 25</a:t>
            </a:r>
            <a:endParaRPr/>
          </a:p>
        </p:txBody>
      </p:sp>
      <p:sp>
        <p:nvSpPr>
          <p:cNvPr id="185" name="Google Shape;185;p19"/>
          <p:cNvSpPr txBox="1"/>
          <p:nvPr/>
        </p:nvSpPr>
        <p:spPr>
          <a:xfrm>
            <a:off x="10534650" y="6486525"/>
            <a:ext cx="88582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SOC Bottlenecks</a:t>
            </a:r>
            <a:endParaRPr/>
          </a:p>
        </p:txBody>
      </p:sp>
      <p:sp>
        <p:nvSpPr>
          <p:cNvPr id="186" name="Google Shape;186;p19"/>
          <p:cNvSpPr txBox="1"/>
          <p:nvPr/>
        </p:nvSpPr>
        <p:spPr>
          <a:xfrm>
            <a:off x="971550" y="3561754"/>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Intense Alert Fatigue</a:t>
            </a:r>
            <a:endParaRPr/>
          </a:p>
        </p:txBody>
      </p:sp>
      <p:sp>
        <p:nvSpPr>
          <p:cNvPr id="187" name="Google Shape;187;p19"/>
          <p:cNvSpPr txBox="1"/>
          <p:nvPr/>
        </p:nvSpPr>
        <p:spPr>
          <a:xfrm>
            <a:off x="971550" y="3857029"/>
            <a:ext cx="3022550" cy="557212"/>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Security analysts handle thousands of static notifications, resulting in critical security events getting completely overlooked.</a:t>
            </a:r>
            <a:endParaRPr/>
          </a:p>
        </p:txBody>
      </p:sp>
      <p:sp>
        <p:nvSpPr>
          <p:cNvPr id="188" name="Google Shape;188;p19"/>
          <p:cNvSpPr txBox="1"/>
          <p:nvPr/>
        </p:nvSpPr>
        <p:spPr>
          <a:xfrm>
            <a:off x="4584650" y="3561754"/>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Manual Triage Latency</a:t>
            </a:r>
            <a:endParaRPr/>
          </a:p>
        </p:txBody>
      </p:sp>
      <p:sp>
        <p:nvSpPr>
          <p:cNvPr id="189" name="Google Shape;189;p19"/>
          <p:cNvSpPr txBox="1"/>
          <p:nvPr/>
        </p:nvSpPr>
        <p:spPr>
          <a:xfrm>
            <a:off x="4584650" y="3857029"/>
            <a:ext cx="3022550" cy="557212"/>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Identifying attacker objectives, fetching domain lists, and building mitigation commands takes hours or days to execute.</a:t>
            </a:r>
            <a:endParaRPr/>
          </a:p>
        </p:txBody>
      </p:sp>
      <p:sp>
        <p:nvSpPr>
          <p:cNvPr id="190" name="Google Shape;190;p19"/>
          <p:cNvSpPr txBox="1"/>
          <p:nvPr/>
        </p:nvSpPr>
        <p:spPr>
          <a:xfrm>
            <a:off x="8197750" y="3561754"/>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Static Defensive Tools</a:t>
            </a:r>
            <a:endParaRPr/>
          </a:p>
        </p:txBody>
      </p:sp>
      <p:sp>
        <p:nvSpPr>
          <p:cNvPr id="191" name="Google Shape;191;p19"/>
          <p:cNvSpPr txBox="1"/>
          <p:nvPr/>
        </p:nvSpPr>
        <p:spPr>
          <a:xfrm>
            <a:off x="8197750" y="3857029"/>
            <a:ext cx="3022550" cy="557212"/>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Conventional systems look strictly at basic, static signatures and hashes, failing against dynamic API execution vectors.</a:t>
            </a:r>
            <a:endParaRPr/>
          </a:p>
        </p:txBody>
      </p:sp>
      <p:pic>
        <p:nvPicPr>
          <p:cNvPr id="192" name="Google Shape;192;p19" descr="image.png"/>
          <p:cNvPicPr preferRelativeResize="0"/>
          <p:nvPr/>
        </p:nvPicPr>
        <p:blipFill rotWithShape="1">
          <a:blip r:embed="rId7">
            <a:alphaModFix/>
          </a:blip>
          <a:srcRect/>
          <a:stretch/>
        </p:blipFill>
        <p:spPr>
          <a:xfrm>
            <a:off x="971550" y="3133129"/>
            <a:ext cx="333375" cy="266700"/>
          </a:xfrm>
          <a:prstGeom prst="rect">
            <a:avLst/>
          </a:prstGeom>
          <a:noFill/>
          <a:ln>
            <a:noFill/>
          </a:ln>
        </p:spPr>
      </p:pic>
      <p:pic>
        <p:nvPicPr>
          <p:cNvPr id="193" name="Google Shape;193;p19" descr="image.png"/>
          <p:cNvPicPr preferRelativeResize="0"/>
          <p:nvPr/>
        </p:nvPicPr>
        <p:blipFill rotWithShape="1">
          <a:blip r:embed="rId8">
            <a:alphaModFix/>
          </a:blip>
          <a:srcRect/>
          <a:stretch/>
        </p:blipFill>
        <p:spPr>
          <a:xfrm>
            <a:off x="4584650" y="3133129"/>
            <a:ext cx="200025" cy="266700"/>
          </a:xfrm>
          <a:prstGeom prst="rect">
            <a:avLst/>
          </a:prstGeom>
          <a:noFill/>
          <a:ln>
            <a:noFill/>
          </a:ln>
        </p:spPr>
      </p:pic>
      <p:pic>
        <p:nvPicPr>
          <p:cNvPr id="194" name="Google Shape;194;p19" descr="image.png"/>
          <p:cNvPicPr preferRelativeResize="0"/>
          <p:nvPr/>
        </p:nvPicPr>
        <p:blipFill rotWithShape="1">
          <a:blip r:embed="rId9">
            <a:alphaModFix/>
          </a:blip>
          <a:srcRect/>
          <a:stretch/>
        </p:blipFill>
        <p:spPr>
          <a:xfrm>
            <a:off x="8197750" y="3133129"/>
            <a:ext cx="266700" cy="266700"/>
          </a:xfrm>
          <a:prstGeom prst="rect">
            <a:avLst/>
          </a:prstGeom>
          <a:noFill/>
          <a:ln>
            <a:noFill/>
          </a:ln>
        </p:spPr>
      </p:pic>
      <p:sp>
        <p:nvSpPr>
          <p:cNvPr id="195" name="Google Shape;195;p19"/>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Traditional SOC Deficiencies</a:t>
            </a:r>
            <a:endParaRPr/>
          </a:p>
        </p:txBody>
      </p:sp>
      <p:sp>
        <p:nvSpPr>
          <p:cNvPr id="196" name="Google Shape;196;p19"/>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200"/>
        <p:cNvGrpSpPr/>
        <p:nvPr/>
      </p:nvGrpSpPr>
      <p:grpSpPr>
        <a:xfrm>
          <a:off x="0" y="0"/>
          <a:ext cx="0" cy="0"/>
          <a:chOff x="0" y="0"/>
          <a:chExt cx="0" cy="0"/>
        </a:xfrm>
      </p:grpSpPr>
      <p:pic>
        <p:nvPicPr>
          <p:cNvPr id="201" name="Google Shape;201;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2" name="Google Shape;202;p20" descr="image.png"/>
          <p:cNvPicPr preferRelativeResize="0"/>
          <p:nvPr/>
        </p:nvPicPr>
        <p:blipFill rotWithShape="1">
          <a:blip r:embed="rId4">
            <a:alphaModFix/>
          </a:blip>
          <a:srcRect/>
          <a:stretch/>
        </p:blipFill>
        <p:spPr>
          <a:xfrm>
            <a:off x="771525" y="6381750"/>
            <a:ext cx="10648950" cy="228600"/>
          </a:xfrm>
          <a:prstGeom prst="rect">
            <a:avLst/>
          </a:prstGeom>
          <a:noFill/>
          <a:ln>
            <a:noFill/>
          </a:ln>
        </p:spPr>
      </p:pic>
      <p:sp>
        <p:nvSpPr>
          <p:cNvPr id="203" name="Google Shape;203;p20"/>
          <p:cNvSpPr txBox="1"/>
          <p:nvPr/>
        </p:nvSpPr>
        <p:spPr>
          <a:xfrm>
            <a:off x="1428750" y="2697360"/>
            <a:ext cx="323850" cy="97155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000" b="0" i="0" u="none" strike="noStrike" cap="none">
                <a:solidFill>
                  <a:srgbClr val="1F2937"/>
                </a:solidFill>
                <a:latin typeface="Space Grotesk"/>
                <a:ea typeface="Space Grotesk"/>
                <a:cs typeface="Space Grotesk"/>
                <a:sym typeface="Space Grotesk"/>
              </a:rPr>
              <a:t>"</a:t>
            </a:r>
            <a:endParaRPr/>
          </a:p>
        </p:txBody>
      </p:sp>
      <p:sp>
        <p:nvSpPr>
          <p:cNvPr id="204" name="Google Shape;204;p20"/>
          <p:cNvSpPr txBox="1"/>
          <p:nvPr/>
        </p:nvSpPr>
        <p:spPr>
          <a:xfrm>
            <a:off x="10439400" y="3792735"/>
            <a:ext cx="323850" cy="97155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000" b="0" i="0" u="none" strike="noStrike" cap="none">
                <a:solidFill>
                  <a:srgbClr val="1F2937"/>
                </a:solidFill>
                <a:latin typeface="Space Grotesk"/>
                <a:ea typeface="Space Grotesk"/>
                <a:cs typeface="Space Grotesk"/>
                <a:sym typeface="Space Grotesk"/>
              </a:rPr>
              <a:t>"</a:t>
            </a:r>
            <a:endParaRPr/>
          </a:p>
        </p:txBody>
      </p:sp>
      <p:sp>
        <p:nvSpPr>
          <p:cNvPr id="205" name="Google Shape;205;p20"/>
          <p:cNvSpPr txBox="1"/>
          <p:nvPr/>
        </p:nvSpPr>
        <p:spPr>
          <a:xfrm>
            <a:off x="771525" y="6486525"/>
            <a:ext cx="5619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8 / 25</a:t>
            </a:r>
            <a:endParaRPr/>
          </a:p>
        </p:txBody>
      </p:sp>
      <p:sp>
        <p:nvSpPr>
          <p:cNvPr id="206" name="Google Shape;206;p20"/>
          <p:cNvSpPr txBox="1"/>
          <p:nvPr/>
        </p:nvSpPr>
        <p:spPr>
          <a:xfrm>
            <a:off x="10791825" y="6486525"/>
            <a:ext cx="6286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Project Goal</a:t>
            </a:r>
            <a:endParaRPr/>
          </a:p>
        </p:txBody>
      </p:sp>
      <p:sp>
        <p:nvSpPr>
          <p:cNvPr id="207" name="Google Shape;207;p20"/>
          <p:cNvSpPr txBox="1"/>
          <p:nvPr/>
        </p:nvSpPr>
        <p:spPr>
          <a:xfrm>
            <a:off x="1809750" y="2887860"/>
            <a:ext cx="8572500"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250" b="0" i="0" u="none" strike="noStrike" cap="none">
                <a:solidFill>
                  <a:srgbClr val="E5E7EB"/>
                </a:solidFill>
                <a:latin typeface="Space Grotesk"/>
                <a:ea typeface="Space Grotesk"/>
                <a:cs typeface="Space Grotesk"/>
                <a:sym typeface="Space Grotesk"/>
              </a:rPr>
              <a:t>"Automation is not simply about replacing human work; it is about raising the speed of cognition so that defenses stay ahead of attackers."</a:t>
            </a:r>
            <a:endParaRPr/>
          </a:p>
        </p:txBody>
      </p:sp>
      <p:sp>
        <p:nvSpPr>
          <p:cNvPr id="208" name="Google Shape;208;p20"/>
          <p:cNvSpPr txBox="1"/>
          <p:nvPr/>
        </p:nvSpPr>
        <p:spPr>
          <a:xfrm>
            <a:off x="4210050" y="4411860"/>
            <a:ext cx="377190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38BDF8"/>
                </a:solidFill>
                <a:latin typeface="Plus Jakarta Sans SemiBold"/>
                <a:ea typeface="Plus Jakarta Sans SemiBold"/>
                <a:cs typeface="Plus Jakarta Sans SemiBold"/>
                <a:sym typeface="Plus Jakarta Sans SemiBold"/>
              </a:rPr>
              <a:t>— Cognitive Security Operations Design Framework</a:t>
            </a:r>
            <a:endParaRPr/>
          </a:p>
        </p:txBody>
      </p:sp>
      <p:sp>
        <p:nvSpPr>
          <p:cNvPr id="209" name="Google Shape;209;p20"/>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The Cognitive Security Vision</a:t>
            </a:r>
            <a:endParaRPr/>
          </a:p>
        </p:txBody>
      </p:sp>
      <p:sp>
        <p:nvSpPr>
          <p:cNvPr id="210" name="Google Shape;210;p20"/>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214"/>
        <p:cNvGrpSpPr/>
        <p:nvPr/>
      </p:nvGrpSpPr>
      <p:grpSpPr>
        <a:xfrm>
          <a:off x="0" y="0"/>
          <a:ext cx="0" cy="0"/>
          <a:chOff x="0" y="0"/>
          <a:chExt cx="0" cy="0"/>
        </a:xfrm>
      </p:grpSpPr>
      <p:pic>
        <p:nvPicPr>
          <p:cNvPr id="215" name="Google Shape;215;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6" name="Google Shape;216;p21"/>
          <p:cNvSpPr txBox="1"/>
          <p:nvPr/>
        </p:nvSpPr>
        <p:spPr>
          <a:xfrm>
            <a:off x="4792715" y="3052762"/>
            <a:ext cx="2606419" cy="628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FFFFFF"/>
                </a:solidFill>
                <a:latin typeface="Space Grotesk"/>
                <a:ea typeface="Space Grotesk"/>
                <a:cs typeface="Space Grotesk"/>
                <a:sym typeface="Space Grotesk"/>
              </a:rPr>
              <a:t>Section 02</a:t>
            </a:r>
            <a:endParaRPr/>
          </a:p>
        </p:txBody>
      </p:sp>
      <p:sp>
        <p:nvSpPr>
          <p:cNvPr id="217" name="Google Shape;217;p21"/>
          <p:cNvSpPr txBox="1"/>
          <p:nvPr/>
        </p:nvSpPr>
        <p:spPr>
          <a:xfrm>
            <a:off x="4333875" y="3824287"/>
            <a:ext cx="352425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CA3AF"/>
                </a:solidFill>
                <a:latin typeface="Plus Jakarta Sans"/>
                <a:ea typeface="Plus Jakarta Sans"/>
                <a:cs typeface="Plus Jakarta Sans"/>
                <a:sym typeface="Plus Jakarta Sans"/>
              </a:rPr>
              <a:t>Lab Infrastructure, Isolation &amp; Data Pipelines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221"/>
        <p:cNvGrpSpPr/>
        <p:nvPr/>
      </p:nvGrpSpPr>
      <p:grpSpPr>
        <a:xfrm>
          <a:off x="0" y="0"/>
          <a:ext cx="0" cy="0"/>
          <a:chOff x="0" y="0"/>
          <a:chExt cx="0" cy="0"/>
        </a:xfrm>
      </p:grpSpPr>
      <p:pic>
        <p:nvPicPr>
          <p:cNvPr id="222" name="Google Shape;22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3" name="Google Shape;223;p22" descr="image.png"/>
          <p:cNvPicPr preferRelativeResize="0"/>
          <p:nvPr/>
        </p:nvPicPr>
        <p:blipFill rotWithShape="1">
          <a:blip r:embed="rId4">
            <a:alphaModFix/>
          </a:blip>
          <a:srcRect/>
          <a:stretch/>
        </p:blipFill>
        <p:spPr>
          <a:xfrm>
            <a:off x="6286500" y="2082998"/>
            <a:ext cx="5133975" cy="3333750"/>
          </a:xfrm>
          <a:prstGeom prst="rect">
            <a:avLst/>
          </a:prstGeom>
          <a:noFill/>
          <a:ln>
            <a:noFill/>
          </a:ln>
        </p:spPr>
      </p:pic>
      <p:pic>
        <p:nvPicPr>
          <p:cNvPr id="224" name="Google Shape;224;p22" descr="image.png"/>
          <p:cNvPicPr preferRelativeResize="0"/>
          <p:nvPr/>
        </p:nvPicPr>
        <p:blipFill rotWithShape="1">
          <a:blip r:embed="rId5">
            <a:alphaModFix/>
          </a:blip>
          <a:srcRect/>
          <a:stretch/>
        </p:blipFill>
        <p:spPr>
          <a:xfrm>
            <a:off x="771525" y="6381750"/>
            <a:ext cx="10648950" cy="228600"/>
          </a:xfrm>
          <a:prstGeom prst="rect">
            <a:avLst/>
          </a:prstGeom>
          <a:noFill/>
          <a:ln>
            <a:noFill/>
          </a:ln>
        </p:spPr>
      </p:pic>
      <p:sp>
        <p:nvSpPr>
          <p:cNvPr id="225" name="Google Shape;225;p22"/>
          <p:cNvSpPr txBox="1"/>
          <p:nvPr/>
        </p:nvSpPr>
        <p:spPr>
          <a:xfrm>
            <a:off x="771525" y="6486525"/>
            <a:ext cx="60960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10 / 25</a:t>
            </a:r>
            <a:endParaRPr/>
          </a:p>
        </p:txBody>
      </p:sp>
      <p:sp>
        <p:nvSpPr>
          <p:cNvPr id="226" name="Google Shape;226;p22"/>
          <p:cNvSpPr txBox="1"/>
          <p:nvPr/>
        </p:nvSpPr>
        <p:spPr>
          <a:xfrm>
            <a:off x="10229850" y="6486525"/>
            <a:ext cx="119062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Infrastructure Overview</a:t>
            </a:r>
            <a:endParaRPr/>
          </a:p>
        </p:txBody>
      </p:sp>
      <p:sp>
        <p:nvSpPr>
          <p:cNvPr id="227" name="Google Shape;227;p22"/>
          <p:cNvSpPr txBox="1"/>
          <p:nvPr/>
        </p:nvSpPr>
        <p:spPr>
          <a:xfrm>
            <a:off x="771525" y="2904529"/>
            <a:ext cx="539067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38BDF8"/>
                </a:solidFill>
                <a:latin typeface="Space Grotesk"/>
                <a:ea typeface="Space Grotesk"/>
                <a:cs typeface="Space Grotesk"/>
                <a:sym typeface="Space Grotesk"/>
              </a:rPr>
              <a:t>Data Flow Blueprint</a:t>
            </a:r>
            <a:endParaRPr/>
          </a:p>
        </p:txBody>
      </p:sp>
      <p:sp>
        <p:nvSpPr>
          <p:cNvPr id="228" name="Google Shape;228;p22"/>
          <p:cNvSpPr txBox="1"/>
          <p:nvPr/>
        </p:nvSpPr>
        <p:spPr>
          <a:xfrm>
            <a:off x="771525" y="3123604"/>
            <a:ext cx="5133975"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We created a virtualized lab environment hosting endpoints configured to stream process parameters safely to centralized indexers.</a:t>
            </a:r>
            <a:endParaRPr/>
          </a:p>
        </p:txBody>
      </p:sp>
      <p:sp>
        <p:nvSpPr>
          <p:cNvPr id="229" name="Google Shape;229;p22"/>
          <p:cNvSpPr txBox="1"/>
          <p:nvPr/>
        </p:nvSpPr>
        <p:spPr>
          <a:xfrm>
            <a:off x="1038225" y="3609379"/>
            <a:ext cx="48672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D1D5DB"/>
                </a:solidFill>
                <a:latin typeface="Plus Jakarta Sans"/>
                <a:ea typeface="Plus Jakarta Sans"/>
                <a:cs typeface="Plus Jakarta Sans"/>
                <a:sym typeface="Plus Jakarta Sans"/>
              </a:rPr>
              <a:t>Granular event tracking at the host registry level.</a:t>
            </a:r>
            <a:endParaRPr/>
          </a:p>
        </p:txBody>
      </p:sp>
      <p:sp>
        <p:nvSpPr>
          <p:cNvPr id="230" name="Google Shape;230;p22"/>
          <p:cNvSpPr txBox="1"/>
          <p:nvPr/>
        </p:nvSpPr>
        <p:spPr>
          <a:xfrm>
            <a:off x="1038225" y="3937992"/>
            <a:ext cx="48672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D1D5DB"/>
                </a:solidFill>
                <a:latin typeface="Plus Jakarta Sans"/>
                <a:ea typeface="Plus Jakarta Sans"/>
                <a:cs typeface="Plus Jakarta Sans"/>
                <a:sym typeface="Plus Jakarta Sans"/>
              </a:rPr>
              <a:t>Secure syslog forwarding via private host network cards.</a:t>
            </a:r>
            <a:endParaRPr/>
          </a:p>
        </p:txBody>
      </p:sp>
      <p:sp>
        <p:nvSpPr>
          <p:cNvPr id="231" name="Google Shape;231;p22"/>
          <p:cNvSpPr txBox="1"/>
          <p:nvPr/>
        </p:nvSpPr>
        <p:spPr>
          <a:xfrm>
            <a:off x="1038225" y="4266604"/>
            <a:ext cx="48672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D1D5DB"/>
                </a:solidFill>
                <a:latin typeface="Plus Jakarta Sans"/>
                <a:ea typeface="Plus Jakarta Sans"/>
                <a:cs typeface="Plus Jakarta Sans"/>
                <a:sym typeface="Plus Jakarta Sans"/>
              </a:rPr>
              <a:t>Immediate parsing to ready logs for detection algorithms.</a:t>
            </a:r>
            <a:endParaRPr/>
          </a:p>
        </p:txBody>
      </p:sp>
      <p:pic>
        <p:nvPicPr>
          <p:cNvPr id="232" name="Google Shape;232;p22" descr="image.png"/>
          <p:cNvPicPr preferRelativeResize="0"/>
          <p:nvPr/>
        </p:nvPicPr>
        <p:blipFill rotWithShape="1">
          <a:blip r:embed="rId6">
            <a:alphaModFix/>
          </a:blip>
          <a:srcRect/>
          <a:stretch/>
        </p:blipFill>
        <p:spPr>
          <a:xfrm>
            <a:off x="6296025" y="2092523"/>
            <a:ext cx="5114925" cy="3314700"/>
          </a:xfrm>
          <a:prstGeom prst="rect">
            <a:avLst/>
          </a:prstGeom>
          <a:noFill/>
          <a:ln>
            <a:noFill/>
          </a:ln>
        </p:spPr>
      </p:pic>
      <p:sp>
        <p:nvSpPr>
          <p:cNvPr id="233" name="Google Shape;233;p22"/>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The Smart Mini-SOC Infrastructure</a:t>
            </a:r>
            <a:endParaRPr/>
          </a:p>
        </p:txBody>
      </p:sp>
      <p:sp>
        <p:nvSpPr>
          <p:cNvPr id="234" name="Google Shape;234;p22"/>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5" name="Google Shape;235;p22" descr="image.png"/>
          <p:cNvPicPr preferRelativeResize="0"/>
          <p:nvPr/>
        </p:nvPicPr>
        <p:blipFill rotWithShape="1">
          <a:blip r:embed="rId7">
            <a:alphaModFix/>
          </a:blip>
          <a:srcRect/>
          <a:stretch/>
        </p:blipFill>
        <p:spPr>
          <a:xfrm>
            <a:off x="771525" y="3628429"/>
            <a:ext cx="142875" cy="142875"/>
          </a:xfrm>
          <a:prstGeom prst="rect">
            <a:avLst/>
          </a:prstGeom>
          <a:noFill/>
          <a:ln>
            <a:noFill/>
          </a:ln>
        </p:spPr>
      </p:pic>
      <p:pic>
        <p:nvPicPr>
          <p:cNvPr id="236" name="Google Shape;236;p22" descr="image.png"/>
          <p:cNvPicPr preferRelativeResize="0"/>
          <p:nvPr/>
        </p:nvPicPr>
        <p:blipFill rotWithShape="1">
          <a:blip r:embed="rId7">
            <a:alphaModFix/>
          </a:blip>
          <a:srcRect/>
          <a:stretch/>
        </p:blipFill>
        <p:spPr>
          <a:xfrm>
            <a:off x="771525" y="3957042"/>
            <a:ext cx="142875" cy="142875"/>
          </a:xfrm>
          <a:prstGeom prst="rect">
            <a:avLst/>
          </a:prstGeom>
          <a:noFill/>
          <a:ln>
            <a:noFill/>
          </a:ln>
        </p:spPr>
      </p:pic>
      <p:pic>
        <p:nvPicPr>
          <p:cNvPr id="237" name="Google Shape;237;p22" descr="image.png"/>
          <p:cNvPicPr preferRelativeResize="0"/>
          <p:nvPr/>
        </p:nvPicPr>
        <p:blipFill rotWithShape="1">
          <a:blip r:embed="rId7">
            <a:alphaModFix/>
          </a:blip>
          <a:srcRect/>
          <a:stretch/>
        </p:blipFill>
        <p:spPr>
          <a:xfrm>
            <a:off x="771525" y="4285654"/>
            <a:ext cx="142875" cy="142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241"/>
        <p:cNvGrpSpPr/>
        <p:nvPr/>
      </p:nvGrpSpPr>
      <p:grpSpPr>
        <a:xfrm>
          <a:off x="0" y="0"/>
          <a:ext cx="0" cy="0"/>
          <a:chOff x="0" y="0"/>
          <a:chExt cx="0" cy="0"/>
        </a:xfrm>
      </p:grpSpPr>
      <p:pic>
        <p:nvPicPr>
          <p:cNvPr id="242" name="Google Shape;242;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3" name="Google Shape;243;p23" descr="image.png"/>
          <p:cNvPicPr preferRelativeResize="0"/>
          <p:nvPr/>
        </p:nvPicPr>
        <p:blipFill rotWithShape="1">
          <a:blip r:embed="rId4">
            <a:alphaModFix/>
          </a:blip>
          <a:srcRect/>
          <a:stretch/>
        </p:blipFill>
        <p:spPr>
          <a:xfrm>
            <a:off x="771525" y="3020466"/>
            <a:ext cx="5133975" cy="1458962"/>
          </a:xfrm>
          <a:prstGeom prst="rect">
            <a:avLst/>
          </a:prstGeom>
          <a:noFill/>
          <a:ln>
            <a:noFill/>
          </a:ln>
        </p:spPr>
      </p:pic>
      <p:pic>
        <p:nvPicPr>
          <p:cNvPr id="244" name="Google Shape;244;p23" descr="image.png"/>
          <p:cNvPicPr preferRelativeResize="0"/>
          <p:nvPr/>
        </p:nvPicPr>
        <p:blipFill rotWithShape="1">
          <a:blip r:embed="rId5">
            <a:alphaModFix/>
          </a:blip>
          <a:srcRect/>
          <a:stretch/>
        </p:blipFill>
        <p:spPr>
          <a:xfrm>
            <a:off x="6286500" y="3020466"/>
            <a:ext cx="5133975" cy="1458962"/>
          </a:xfrm>
          <a:prstGeom prst="rect">
            <a:avLst/>
          </a:prstGeom>
          <a:noFill/>
          <a:ln>
            <a:noFill/>
          </a:ln>
        </p:spPr>
      </p:pic>
      <p:pic>
        <p:nvPicPr>
          <p:cNvPr id="245" name="Google Shape;245;p23"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246" name="Google Shape;246;p23"/>
          <p:cNvSpPr txBox="1"/>
          <p:nvPr/>
        </p:nvSpPr>
        <p:spPr>
          <a:xfrm>
            <a:off x="771525" y="6486525"/>
            <a:ext cx="57150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11 / 25</a:t>
            </a:r>
            <a:endParaRPr/>
          </a:p>
        </p:txBody>
      </p:sp>
      <p:sp>
        <p:nvSpPr>
          <p:cNvPr id="247" name="Google Shape;247;p23"/>
          <p:cNvSpPr txBox="1"/>
          <p:nvPr/>
        </p:nvSpPr>
        <p:spPr>
          <a:xfrm>
            <a:off x="10458450" y="6486525"/>
            <a:ext cx="96202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VLAN Configuration</a:t>
            </a:r>
            <a:endParaRPr/>
          </a:p>
        </p:txBody>
      </p:sp>
      <p:sp>
        <p:nvSpPr>
          <p:cNvPr id="248" name="Google Shape;248;p23"/>
          <p:cNvSpPr txBox="1"/>
          <p:nvPr/>
        </p:nvSpPr>
        <p:spPr>
          <a:xfrm>
            <a:off x="1009650" y="3258591"/>
            <a:ext cx="489061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VLAN Segmentation</a:t>
            </a:r>
            <a:endParaRPr/>
          </a:p>
        </p:txBody>
      </p:sp>
      <p:sp>
        <p:nvSpPr>
          <p:cNvPr id="249" name="Google Shape;249;p23"/>
          <p:cNvSpPr txBox="1"/>
          <p:nvPr/>
        </p:nvSpPr>
        <p:spPr>
          <a:xfrm>
            <a:off x="1009650" y="3601491"/>
            <a:ext cx="4657725"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Built using VMware Workstation, isolated on host-only subnets (10.10.10.0/24). This keeps malware attacks isolated, avoiding accidental routing leaks outside the lab subnet.</a:t>
            </a:r>
            <a:endParaRPr/>
          </a:p>
        </p:txBody>
      </p:sp>
      <p:sp>
        <p:nvSpPr>
          <p:cNvPr id="250" name="Google Shape;250;p23"/>
          <p:cNvSpPr txBox="1"/>
          <p:nvPr/>
        </p:nvSpPr>
        <p:spPr>
          <a:xfrm>
            <a:off x="6524625" y="3258591"/>
            <a:ext cx="4890611"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Active Snapshots</a:t>
            </a:r>
            <a:endParaRPr/>
          </a:p>
        </p:txBody>
      </p:sp>
      <p:sp>
        <p:nvSpPr>
          <p:cNvPr id="251" name="Google Shape;251;p23"/>
          <p:cNvSpPr txBox="1"/>
          <p:nvPr/>
        </p:nvSpPr>
        <p:spPr>
          <a:xfrm>
            <a:off x="6524625" y="3601491"/>
            <a:ext cx="4657725"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Preserved baseline system states via hypervisor snapshot rules. This enables one-click recovery, keeping defensive rules safe after executing malware strains.</a:t>
            </a:r>
            <a:endParaRPr/>
          </a:p>
        </p:txBody>
      </p:sp>
      <p:sp>
        <p:nvSpPr>
          <p:cNvPr id="252" name="Google Shape;252;p23"/>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Isolated Hypervisor Setup</a:t>
            </a:r>
            <a:endParaRPr/>
          </a:p>
        </p:txBody>
      </p:sp>
      <p:sp>
        <p:nvSpPr>
          <p:cNvPr id="253" name="Google Shape;253;p23"/>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257"/>
        <p:cNvGrpSpPr/>
        <p:nvPr/>
      </p:nvGrpSpPr>
      <p:grpSpPr>
        <a:xfrm>
          <a:off x="0" y="0"/>
          <a:ext cx="0" cy="0"/>
          <a:chOff x="0" y="0"/>
          <a:chExt cx="0" cy="0"/>
        </a:xfrm>
      </p:grpSpPr>
      <p:pic>
        <p:nvPicPr>
          <p:cNvPr id="258" name="Google Shape;25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9" name="Google Shape;259;p24" descr="image.png"/>
          <p:cNvPicPr preferRelativeResize="0"/>
          <p:nvPr/>
        </p:nvPicPr>
        <p:blipFill rotWithShape="1">
          <a:blip r:embed="rId4">
            <a:alphaModFix/>
          </a:blip>
          <a:srcRect/>
          <a:stretch/>
        </p:blipFill>
        <p:spPr>
          <a:xfrm>
            <a:off x="771525" y="2544960"/>
            <a:ext cx="10648950" cy="2409825"/>
          </a:xfrm>
          <a:prstGeom prst="rect">
            <a:avLst/>
          </a:prstGeom>
          <a:noFill/>
          <a:ln>
            <a:noFill/>
          </a:ln>
        </p:spPr>
      </p:pic>
      <p:pic>
        <p:nvPicPr>
          <p:cNvPr id="260" name="Google Shape;260;p24" descr="image.png"/>
          <p:cNvPicPr preferRelativeResize="0"/>
          <p:nvPr/>
        </p:nvPicPr>
        <p:blipFill rotWithShape="1">
          <a:blip r:embed="rId5">
            <a:alphaModFix/>
          </a:blip>
          <a:srcRect/>
          <a:stretch/>
        </p:blipFill>
        <p:spPr>
          <a:xfrm>
            <a:off x="771525" y="6381750"/>
            <a:ext cx="10648950" cy="228600"/>
          </a:xfrm>
          <a:prstGeom prst="rect">
            <a:avLst/>
          </a:prstGeom>
          <a:noFill/>
          <a:ln>
            <a:noFill/>
          </a:ln>
        </p:spPr>
      </p:pic>
      <p:sp>
        <p:nvSpPr>
          <p:cNvPr id="261" name="Google Shape;261;p24"/>
          <p:cNvSpPr txBox="1"/>
          <p:nvPr/>
        </p:nvSpPr>
        <p:spPr>
          <a:xfrm>
            <a:off x="771525" y="6486525"/>
            <a:ext cx="6000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12 / 25</a:t>
            </a:r>
            <a:endParaRPr/>
          </a:p>
        </p:txBody>
      </p:sp>
      <p:sp>
        <p:nvSpPr>
          <p:cNvPr id="262" name="Google Shape;262;p24"/>
          <p:cNvSpPr txBox="1"/>
          <p:nvPr/>
        </p:nvSpPr>
        <p:spPr>
          <a:xfrm>
            <a:off x="10610850" y="6486525"/>
            <a:ext cx="80962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SOC Tech Stack</a:t>
            </a:r>
            <a:endParaRPr/>
          </a:p>
        </p:txBody>
      </p:sp>
      <p:graphicFrame>
        <p:nvGraphicFramePr>
          <p:cNvPr id="263" name="Google Shape;263;p24"/>
          <p:cNvGraphicFramePr/>
          <p:nvPr/>
        </p:nvGraphicFramePr>
        <p:xfrm>
          <a:off x="781050" y="2554485"/>
          <a:ext cx="10629900" cy="2390725"/>
        </p:xfrm>
        <a:graphic>
          <a:graphicData uri="http://schemas.openxmlformats.org/drawingml/2006/table">
            <a:tbl>
              <a:tblPr firstRow="1" bandRow="1">
                <a:noFill/>
                <a:tableStyleId>{E9ACB26D-C934-4B15-AB5A-E5978AC60024}</a:tableStyleId>
              </a:tblPr>
              <a:tblGrid>
                <a:gridCol w="3050675">
                  <a:extLst>
                    <a:ext uri="{9D8B030D-6E8A-4147-A177-3AD203B41FA5}">
                      <a16:colId xmlns:a16="http://schemas.microsoft.com/office/drawing/2014/main" val="20000"/>
                    </a:ext>
                  </a:extLst>
                </a:gridCol>
                <a:gridCol w="1864975">
                  <a:extLst>
                    <a:ext uri="{9D8B030D-6E8A-4147-A177-3AD203B41FA5}">
                      <a16:colId xmlns:a16="http://schemas.microsoft.com/office/drawing/2014/main" val="20001"/>
                    </a:ext>
                  </a:extLst>
                </a:gridCol>
                <a:gridCol w="5714250">
                  <a:extLst>
                    <a:ext uri="{9D8B030D-6E8A-4147-A177-3AD203B41FA5}">
                      <a16:colId xmlns:a16="http://schemas.microsoft.com/office/drawing/2014/main" val="20002"/>
                    </a:ext>
                  </a:extLst>
                </a:gridCol>
              </a:tblGrid>
              <a:tr h="398450">
                <a:tc>
                  <a:txBody>
                    <a:bodyPr/>
                    <a:lstStyle/>
                    <a:p>
                      <a:pPr marL="0" marR="0" lvl="0" indent="0" algn="l" rtl="0">
                        <a:spcBef>
                          <a:spcPts val="0"/>
                        </a:spcBef>
                        <a:spcAft>
                          <a:spcPts val="0"/>
                        </a:spcAft>
                        <a:buNone/>
                      </a:pPr>
                      <a:r>
                        <a:rPr lang="en-US" sz="1050" b="1" i="0" u="none" strike="noStrike" cap="none">
                          <a:solidFill>
                            <a:srgbClr val="38BDF8"/>
                          </a:solidFill>
                          <a:latin typeface="Space Grotesk"/>
                          <a:ea typeface="Space Grotesk"/>
                          <a:cs typeface="Space Grotesk"/>
                          <a:sym typeface="Space Grotesk"/>
                        </a:rPr>
                        <a:t>Infrastructure Component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A5E9"/>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Space Grotesk"/>
                          <a:ea typeface="Space Grotesk"/>
                          <a:cs typeface="Space Grotesk"/>
                          <a:sym typeface="Space Grotesk"/>
                        </a:rPr>
                        <a:t>Specific Role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A5E9"/>
                    </a:solidFill>
                  </a:tcPr>
                </a:tc>
                <a:tc>
                  <a:txBody>
                    <a:bodyPr/>
                    <a:lstStyle/>
                    <a:p>
                      <a:pPr marL="0" marR="0" lvl="0" indent="0" algn="l" rtl="0">
                        <a:spcBef>
                          <a:spcPts val="0"/>
                        </a:spcBef>
                        <a:spcAft>
                          <a:spcPts val="0"/>
                        </a:spcAft>
                        <a:buNone/>
                      </a:pPr>
                      <a:r>
                        <a:rPr lang="en-US" sz="1050" b="1" i="0" u="none" strike="noStrike" cap="none">
                          <a:solidFill>
                            <a:srgbClr val="38BDF8"/>
                          </a:solidFill>
                          <a:latin typeface="Space Grotesk"/>
                          <a:ea typeface="Space Grotesk"/>
                          <a:cs typeface="Space Grotesk"/>
                          <a:sym typeface="Space Grotesk"/>
                        </a:rPr>
                        <a:t>Strategic Objective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EA5E9"/>
                    </a:solidFill>
                  </a:tcPr>
                </a:tc>
                <a:extLst>
                  <a:ext uri="{0D108BD9-81ED-4DB2-BD59-A6C34878D82A}">
                    <a16:rowId xmlns:a16="http://schemas.microsoft.com/office/drawing/2014/main" val="10000"/>
                  </a:ext>
                </a:extLst>
              </a:tr>
              <a:tr h="398450">
                <a:tc>
                  <a:txBody>
                    <a:bodyPr/>
                    <a:lstStyle/>
                    <a:p>
                      <a:pPr marL="0" marR="0" lvl="0" indent="0" algn="l" rtl="0">
                        <a:spcBef>
                          <a:spcPts val="0"/>
                        </a:spcBef>
                        <a:spcAft>
                          <a:spcPts val="0"/>
                        </a:spcAft>
                        <a:buNone/>
                      </a:pPr>
                      <a:r>
                        <a:rPr lang="en-US" sz="975" b="1" i="0" u="none" strike="noStrike" cap="none">
                          <a:solidFill>
                            <a:srgbClr val="D1D5DB"/>
                          </a:solidFill>
                          <a:latin typeface="Plus Jakarta Sans"/>
                          <a:ea typeface="Plus Jakarta Sans"/>
                          <a:cs typeface="Plus Jakarta Sans"/>
                          <a:sym typeface="Plus Jakarta Sans"/>
                        </a:rPr>
                        <a:t>Microsoft Sysmon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Endpoint Ingestion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Captures DLL loadings, registry modifications, and background spawns.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98450">
                <a:tc>
                  <a:txBody>
                    <a:bodyPr/>
                    <a:lstStyle/>
                    <a:p>
                      <a:pPr marL="0" marR="0" lvl="0" indent="0" algn="l" rtl="0">
                        <a:spcBef>
                          <a:spcPts val="0"/>
                        </a:spcBef>
                        <a:spcAft>
                          <a:spcPts val="0"/>
                        </a:spcAft>
                        <a:buNone/>
                      </a:pPr>
                      <a:r>
                        <a:rPr lang="en-US" sz="975" b="1" i="0" u="none" strike="noStrike" cap="none">
                          <a:solidFill>
                            <a:srgbClr val="D1D5DB"/>
                          </a:solidFill>
                          <a:latin typeface="Plus Jakarta Sans"/>
                          <a:ea typeface="Plus Jakarta Sans"/>
                          <a:cs typeface="Plus Jakarta Sans"/>
                          <a:sym typeface="Plus Jakarta Sans"/>
                        </a:rPr>
                        <a:t>Splunk Forwarder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Secure Streaming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Encrypts local process events for transport.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98450">
                <a:tc>
                  <a:txBody>
                    <a:bodyPr/>
                    <a:lstStyle/>
                    <a:p>
                      <a:pPr marL="0" marR="0" lvl="0" indent="0" algn="l" rtl="0">
                        <a:spcBef>
                          <a:spcPts val="0"/>
                        </a:spcBef>
                        <a:spcAft>
                          <a:spcPts val="0"/>
                        </a:spcAft>
                        <a:buNone/>
                      </a:pPr>
                      <a:r>
                        <a:rPr lang="en-US" sz="975" b="1" i="0" u="none" strike="noStrike" cap="none">
                          <a:solidFill>
                            <a:srgbClr val="D1D5DB"/>
                          </a:solidFill>
                          <a:latin typeface="Plus Jakarta Sans"/>
                          <a:ea typeface="Plus Jakarta Sans"/>
                          <a:cs typeface="Plus Jakarta Sans"/>
                          <a:sym typeface="Plus Jakarta Sans"/>
                        </a:rPr>
                        <a:t>Splunk Enterprise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Core SIEM Indexer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Parses data patterns with custom SPL queries.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98450">
                <a:tc>
                  <a:txBody>
                    <a:bodyPr/>
                    <a:lstStyle/>
                    <a:p>
                      <a:pPr marL="0" marR="0" lvl="0" indent="0" algn="l" rtl="0">
                        <a:spcBef>
                          <a:spcPts val="0"/>
                        </a:spcBef>
                        <a:spcAft>
                          <a:spcPts val="0"/>
                        </a:spcAft>
                        <a:buNone/>
                      </a:pPr>
                      <a:r>
                        <a:rPr lang="en-US" sz="975" b="1" i="0" u="none" strike="noStrike" cap="none">
                          <a:solidFill>
                            <a:srgbClr val="D1D5DB"/>
                          </a:solidFill>
                          <a:latin typeface="Plus Jakarta Sans"/>
                          <a:ea typeface="Plus Jakarta Sans"/>
                          <a:cs typeface="Plus Jakarta Sans"/>
                          <a:sym typeface="Plus Jakarta Sans"/>
                        </a:rPr>
                        <a:t>n8n Automation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SOAR Engine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Translates alert conditions into API webhook payloads.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98475">
                <a:tc>
                  <a:txBody>
                    <a:bodyPr/>
                    <a:lstStyle/>
                    <a:p>
                      <a:pPr marL="0" marR="0" lvl="0" indent="0" algn="l" rtl="0">
                        <a:spcBef>
                          <a:spcPts val="0"/>
                        </a:spcBef>
                        <a:spcAft>
                          <a:spcPts val="0"/>
                        </a:spcAft>
                        <a:buNone/>
                      </a:pPr>
                      <a:r>
                        <a:rPr lang="en-US" sz="975" b="1" i="0" u="none" strike="noStrike" cap="none">
                          <a:solidFill>
                            <a:srgbClr val="D1D5DB"/>
                          </a:solidFill>
                          <a:latin typeface="Plus Jakarta Sans"/>
                          <a:ea typeface="Plus Jakarta Sans"/>
                          <a:cs typeface="Plus Jakarta Sans"/>
                          <a:sym typeface="Plus Jakarta Sans"/>
                        </a:rPr>
                        <a:t>Google Gemini AI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Cognitive Analyst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Processes unstructured event lines into mitigation advice.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64" name="Google Shape;264;p24"/>
          <p:cNvSpPr/>
          <p:nvPr/>
        </p:nvSpPr>
        <p:spPr>
          <a:xfrm>
            <a:off x="781050" y="2987873"/>
            <a:ext cx="305067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5" name="Google Shape;265;p24"/>
          <p:cNvSpPr/>
          <p:nvPr/>
        </p:nvSpPr>
        <p:spPr>
          <a:xfrm>
            <a:off x="3831728" y="2987873"/>
            <a:ext cx="186496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6" name="Google Shape;266;p24"/>
          <p:cNvSpPr/>
          <p:nvPr/>
        </p:nvSpPr>
        <p:spPr>
          <a:xfrm>
            <a:off x="5696694" y="2987873"/>
            <a:ext cx="57142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4"/>
          <p:cNvSpPr/>
          <p:nvPr/>
        </p:nvSpPr>
        <p:spPr>
          <a:xfrm>
            <a:off x="781050" y="3378398"/>
            <a:ext cx="305067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8" name="Google Shape;268;p24"/>
          <p:cNvSpPr/>
          <p:nvPr/>
        </p:nvSpPr>
        <p:spPr>
          <a:xfrm>
            <a:off x="3831728" y="3378398"/>
            <a:ext cx="186496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9" name="Google Shape;269;p24"/>
          <p:cNvSpPr/>
          <p:nvPr/>
        </p:nvSpPr>
        <p:spPr>
          <a:xfrm>
            <a:off x="5696694" y="3378398"/>
            <a:ext cx="57142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0" name="Google Shape;270;p24"/>
          <p:cNvSpPr/>
          <p:nvPr/>
        </p:nvSpPr>
        <p:spPr>
          <a:xfrm>
            <a:off x="781050" y="3768923"/>
            <a:ext cx="305067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24"/>
          <p:cNvSpPr/>
          <p:nvPr/>
        </p:nvSpPr>
        <p:spPr>
          <a:xfrm>
            <a:off x="3831728" y="3768923"/>
            <a:ext cx="186496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2" name="Google Shape;272;p24"/>
          <p:cNvSpPr/>
          <p:nvPr/>
        </p:nvSpPr>
        <p:spPr>
          <a:xfrm>
            <a:off x="5696694" y="3768923"/>
            <a:ext cx="57142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3" name="Google Shape;273;p24"/>
          <p:cNvSpPr/>
          <p:nvPr/>
        </p:nvSpPr>
        <p:spPr>
          <a:xfrm>
            <a:off x="781050" y="4159448"/>
            <a:ext cx="305067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4" name="Google Shape;274;p24"/>
          <p:cNvSpPr/>
          <p:nvPr/>
        </p:nvSpPr>
        <p:spPr>
          <a:xfrm>
            <a:off x="3831728" y="4159448"/>
            <a:ext cx="186496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4"/>
          <p:cNvSpPr/>
          <p:nvPr/>
        </p:nvSpPr>
        <p:spPr>
          <a:xfrm>
            <a:off x="5696694" y="4159448"/>
            <a:ext cx="57142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4"/>
          <p:cNvSpPr/>
          <p:nvPr/>
        </p:nvSpPr>
        <p:spPr>
          <a:xfrm>
            <a:off x="781050" y="4549973"/>
            <a:ext cx="3050678"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24"/>
          <p:cNvSpPr/>
          <p:nvPr/>
        </p:nvSpPr>
        <p:spPr>
          <a:xfrm>
            <a:off x="3831728" y="4549973"/>
            <a:ext cx="186496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24"/>
          <p:cNvSpPr/>
          <p:nvPr/>
        </p:nvSpPr>
        <p:spPr>
          <a:xfrm>
            <a:off x="5696694" y="4549973"/>
            <a:ext cx="571425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4"/>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Integrated Technical Stack</a:t>
            </a:r>
            <a:endParaRPr/>
          </a:p>
        </p:txBody>
      </p:sp>
      <p:sp>
        <p:nvSpPr>
          <p:cNvPr id="280" name="Google Shape;280;p24"/>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284"/>
        <p:cNvGrpSpPr/>
        <p:nvPr/>
      </p:nvGrpSpPr>
      <p:grpSpPr>
        <a:xfrm>
          <a:off x="0" y="0"/>
          <a:ext cx="0" cy="0"/>
          <a:chOff x="0" y="0"/>
          <a:chExt cx="0" cy="0"/>
        </a:xfrm>
      </p:grpSpPr>
      <p:pic>
        <p:nvPicPr>
          <p:cNvPr id="285" name="Google Shape;285;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6" name="Google Shape;286;p25" descr="image.png"/>
          <p:cNvPicPr preferRelativeResize="0"/>
          <p:nvPr/>
        </p:nvPicPr>
        <p:blipFill rotWithShape="1">
          <a:blip r:embed="rId4">
            <a:alphaModFix/>
          </a:blip>
          <a:srcRect/>
          <a:stretch/>
        </p:blipFill>
        <p:spPr>
          <a:xfrm>
            <a:off x="771525" y="3146077"/>
            <a:ext cx="1916757" cy="750391"/>
          </a:xfrm>
          <a:prstGeom prst="rect">
            <a:avLst/>
          </a:prstGeom>
          <a:noFill/>
          <a:ln>
            <a:noFill/>
          </a:ln>
        </p:spPr>
      </p:pic>
      <p:pic>
        <p:nvPicPr>
          <p:cNvPr id="287" name="Google Shape;287;p25" descr="image.png"/>
          <p:cNvPicPr preferRelativeResize="0"/>
          <p:nvPr/>
        </p:nvPicPr>
        <p:blipFill rotWithShape="1">
          <a:blip r:embed="rId5">
            <a:alphaModFix/>
          </a:blip>
          <a:srcRect/>
          <a:stretch/>
        </p:blipFill>
        <p:spPr>
          <a:xfrm>
            <a:off x="2954535" y="3146077"/>
            <a:ext cx="1916757" cy="750391"/>
          </a:xfrm>
          <a:prstGeom prst="rect">
            <a:avLst/>
          </a:prstGeom>
          <a:noFill/>
          <a:ln>
            <a:noFill/>
          </a:ln>
        </p:spPr>
      </p:pic>
      <p:pic>
        <p:nvPicPr>
          <p:cNvPr id="288" name="Google Shape;288;p25" descr="image.png"/>
          <p:cNvPicPr preferRelativeResize="0"/>
          <p:nvPr/>
        </p:nvPicPr>
        <p:blipFill rotWithShape="1">
          <a:blip r:embed="rId6">
            <a:alphaModFix/>
          </a:blip>
          <a:srcRect/>
          <a:stretch/>
        </p:blipFill>
        <p:spPr>
          <a:xfrm>
            <a:off x="5137546" y="3146077"/>
            <a:ext cx="1916757" cy="750391"/>
          </a:xfrm>
          <a:prstGeom prst="rect">
            <a:avLst/>
          </a:prstGeom>
          <a:noFill/>
          <a:ln>
            <a:noFill/>
          </a:ln>
        </p:spPr>
      </p:pic>
      <p:pic>
        <p:nvPicPr>
          <p:cNvPr id="289" name="Google Shape;289;p25" descr="image.png"/>
          <p:cNvPicPr preferRelativeResize="0"/>
          <p:nvPr/>
        </p:nvPicPr>
        <p:blipFill rotWithShape="1">
          <a:blip r:embed="rId7">
            <a:alphaModFix/>
          </a:blip>
          <a:srcRect/>
          <a:stretch/>
        </p:blipFill>
        <p:spPr>
          <a:xfrm>
            <a:off x="7320557" y="3146077"/>
            <a:ext cx="1916757" cy="750391"/>
          </a:xfrm>
          <a:prstGeom prst="rect">
            <a:avLst/>
          </a:prstGeom>
          <a:noFill/>
          <a:ln>
            <a:noFill/>
          </a:ln>
        </p:spPr>
      </p:pic>
      <p:pic>
        <p:nvPicPr>
          <p:cNvPr id="290" name="Google Shape;290;p25" descr="image.png"/>
          <p:cNvPicPr preferRelativeResize="0"/>
          <p:nvPr/>
        </p:nvPicPr>
        <p:blipFill rotWithShape="1">
          <a:blip r:embed="rId4">
            <a:alphaModFix/>
          </a:blip>
          <a:srcRect/>
          <a:stretch/>
        </p:blipFill>
        <p:spPr>
          <a:xfrm>
            <a:off x="9503568" y="3146077"/>
            <a:ext cx="1916757" cy="750391"/>
          </a:xfrm>
          <a:prstGeom prst="rect">
            <a:avLst/>
          </a:prstGeom>
          <a:noFill/>
          <a:ln>
            <a:noFill/>
          </a:ln>
        </p:spPr>
      </p:pic>
      <p:pic>
        <p:nvPicPr>
          <p:cNvPr id="291" name="Google Shape;291;p25" descr="image.png"/>
          <p:cNvPicPr preferRelativeResize="0"/>
          <p:nvPr/>
        </p:nvPicPr>
        <p:blipFill rotWithShape="1">
          <a:blip r:embed="rId8">
            <a:alphaModFix/>
          </a:blip>
          <a:srcRect/>
          <a:stretch/>
        </p:blipFill>
        <p:spPr>
          <a:xfrm>
            <a:off x="771525" y="3749873"/>
            <a:ext cx="10648950" cy="19050"/>
          </a:xfrm>
          <a:prstGeom prst="rect">
            <a:avLst/>
          </a:prstGeom>
          <a:noFill/>
          <a:ln>
            <a:noFill/>
          </a:ln>
        </p:spPr>
      </p:pic>
      <p:pic>
        <p:nvPicPr>
          <p:cNvPr id="292" name="Google Shape;292;p25" descr="image.png"/>
          <p:cNvPicPr preferRelativeResize="0"/>
          <p:nvPr/>
        </p:nvPicPr>
        <p:blipFill rotWithShape="1">
          <a:blip r:embed="rId9">
            <a:alphaModFix/>
          </a:blip>
          <a:srcRect/>
          <a:stretch/>
        </p:blipFill>
        <p:spPr>
          <a:xfrm>
            <a:off x="771525" y="6381750"/>
            <a:ext cx="10648950" cy="228600"/>
          </a:xfrm>
          <a:prstGeom prst="rect">
            <a:avLst/>
          </a:prstGeom>
          <a:noFill/>
          <a:ln>
            <a:noFill/>
          </a:ln>
        </p:spPr>
      </p:pic>
      <p:sp>
        <p:nvSpPr>
          <p:cNvPr id="293" name="Google Shape;293;p25"/>
          <p:cNvSpPr txBox="1"/>
          <p:nvPr/>
        </p:nvSpPr>
        <p:spPr>
          <a:xfrm>
            <a:off x="771525" y="6486525"/>
            <a:ext cx="6000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13 / 25</a:t>
            </a:r>
            <a:endParaRPr/>
          </a:p>
        </p:txBody>
      </p:sp>
      <p:sp>
        <p:nvSpPr>
          <p:cNvPr id="294" name="Google Shape;294;p25"/>
          <p:cNvSpPr txBox="1"/>
          <p:nvPr/>
        </p:nvSpPr>
        <p:spPr>
          <a:xfrm>
            <a:off x="10287000" y="6486525"/>
            <a:ext cx="11334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Log Lifecycle Timeline</a:t>
            </a:r>
            <a:endParaRPr/>
          </a:p>
        </p:txBody>
      </p:sp>
      <p:sp>
        <p:nvSpPr>
          <p:cNvPr id="295" name="Google Shape;295;p25"/>
          <p:cNvSpPr txBox="1"/>
          <p:nvPr/>
        </p:nvSpPr>
        <p:spPr>
          <a:xfrm>
            <a:off x="853622" y="3269902"/>
            <a:ext cx="1752562"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38BDF8"/>
                </a:solidFill>
                <a:latin typeface="Space Grotesk"/>
                <a:ea typeface="Space Grotesk"/>
                <a:cs typeface="Space Grotesk"/>
                <a:sym typeface="Space Grotesk"/>
              </a:rPr>
              <a:t>1. Generate</a:t>
            </a:r>
            <a:endParaRPr/>
          </a:p>
        </p:txBody>
      </p:sp>
      <p:sp>
        <p:nvSpPr>
          <p:cNvPr id="296" name="Google Shape;296;p25"/>
          <p:cNvSpPr txBox="1"/>
          <p:nvPr/>
        </p:nvSpPr>
        <p:spPr>
          <a:xfrm>
            <a:off x="895350" y="3479452"/>
            <a:ext cx="1669107" cy="29319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25" b="0" i="0" u="none" strike="noStrike" cap="none">
                <a:solidFill>
                  <a:srgbClr val="9CA3AF"/>
                </a:solidFill>
                <a:latin typeface="Plus Jakarta Sans"/>
                <a:ea typeface="Plus Jakarta Sans"/>
                <a:cs typeface="Plus Jakarta Sans"/>
                <a:sym typeface="Plus Jakarta Sans"/>
              </a:rPr>
              <a:t>Host executes a process; Sysmon captures context.</a:t>
            </a:r>
            <a:endParaRPr/>
          </a:p>
        </p:txBody>
      </p:sp>
      <p:sp>
        <p:nvSpPr>
          <p:cNvPr id="297" name="Google Shape;297;p25"/>
          <p:cNvSpPr txBox="1"/>
          <p:nvPr/>
        </p:nvSpPr>
        <p:spPr>
          <a:xfrm>
            <a:off x="3036633" y="3269902"/>
            <a:ext cx="1752562"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38BDF8"/>
                </a:solidFill>
                <a:latin typeface="Space Grotesk"/>
                <a:ea typeface="Space Grotesk"/>
                <a:cs typeface="Space Grotesk"/>
                <a:sym typeface="Space Grotesk"/>
              </a:rPr>
              <a:t>2. Forward</a:t>
            </a:r>
            <a:endParaRPr/>
          </a:p>
        </p:txBody>
      </p:sp>
      <p:sp>
        <p:nvSpPr>
          <p:cNvPr id="298" name="Google Shape;298;p25"/>
          <p:cNvSpPr txBox="1"/>
          <p:nvPr/>
        </p:nvSpPr>
        <p:spPr>
          <a:xfrm>
            <a:off x="3078360" y="3479452"/>
            <a:ext cx="1669107" cy="29319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25" b="0" i="0" u="none" strike="noStrike" cap="none">
                <a:solidFill>
                  <a:srgbClr val="9CA3AF"/>
                </a:solidFill>
                <a:latin typeface="Plus Jakarta Sans"/>
                <a:ea typeface="Plus Jakarta Sans"/>
                <a:cs typeface="Plus Jakarta Sans"/>
                <a:sym typeface="Plus Jakarta Sans"/>
              </a:rPr>
              <a:t>Splunk UF ships compressed JSON strings.</a:t>
            </a:r>
            <a:endParaRPr/>
          </a:p>
        </p:txBody>
      </p:sp>
      <p:sp>
        <p:nvSpPr>
          <p:cNvPr id="299" name="Google Shape;299;p25"/>
          <p:cNvSpPr txBox="1"/>
          <p:nvPr/>
        </p:nvSpPr>
        <p:spPr>
          <a:xfrm>
            <a:off x="5219644" y="3269902"/>
            <a:ext cx="1752562"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38BDF8"/>
                </a:solidFill>
                <a:latin typeface="Space Grotesk"/>
                <a:ea typeface="Space Grotesk"/>
                <a:cs typeface="Space Grotesk"/>
                <a:sym typeface="Space Grotesk"/>
              </a:rPr>
              <a:t>3. Index</a:t>
            </a:r>
            <a:endParaRPr/>
          </a:p>
        </p:txBody>
      </p:sp>
      <p:sp>
        <p:nvSpPr>
          <p:cNvPr id="300" name="Google Shape;300;p25"/>
          <p:cNvSpPr txBox="1"/>
          <p:nvPr/>
        </p:nvSpPr>
        <p:spPr>
          <a:xfrm>
            <a:off x="5261371" y="3479452"/>
            <a:ext cx="1669107" cy="29319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25" b="0" i="0" u="none" strike="noStrike" cap="none">
                <a:solidFill>
                  <a:srgbClr val="9CA3AF"/>
                </a:solidFill>
                <a:latin typeface="Plus Jakarta Sans"/>
                <a:ea typeface="Plus Jakarta Sans"/>
                <a:cs typeface="Plus Jakarta Sans"/>
                <a:sym typeface="Plus Jakarta Sans"/>
              </a:rPr>
              <a:t>Events parse into indexed sourcetypes.</a:t>
            </a:r>
            <a:endParaRPr/>
          </a:p>
        </p:txBody>
      </p:sp>
      <p:sp>
        <p:nvSpPr>
          <p:cNvPr id="301" name="Google Shape;301;p25"/>
          <p:cNvSpPr txBox="1"/>
          <p:nvPr/>
        </p:nvSpPr>
        <p:spPr>
          <a:xfrm>
            <a:off x="7402655" y="3269902"/>
            <a:ext cx="1752562"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38BDF8"/>
                </a:solidFill>
                <a:latin typeface="Space Grotesk"/>
                <a:ea typeface="Space Grotesk"/>
                <a:cs typeface="Space Grotesk"/>
                <a:sym typeface="Space Grotesk"/>
              </a:rPr>
              <a:t>4. Evaluate</a:t>
            </a:r>
            <a:endParaRPr/>
          </a:p>
        </p:txBody>
      </p:sp>
      <p:sp>
        <p:nvSpPr>
          <p:cNvPr id="302" name="Google Shape;302;p25"/>
          <p:cNvSpPr txBox="1"/>
          <p:nvPr/>
        </p:nvSpPr>
        <p:spPr>
          <a:xfrm>
            <a:off x="7444382" y="3479452"/>
            <a:ext cx="1669107" cy="29319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25" b="0" i="0" u="none" strike="noStrike" cap="none">
                <a:solidFill>
                  <a:srgbClr val="9CA3AF"/>
                </a:solidFill>
                <a:latin typeface="Plus Jakarta Sans"/>
                <a:ea typeface="Plus Jakarta Sans"/>
                <a:cs typeface="Plus Jakarta Sans"/>
                <a:sym typeface="Plus Jakarta Sans"/>
              </a:rPr>
              <a:t>SPL scheduled alerts scan the database.</a:t>
            </a:r>
            <a:endParaRPr/>
          </a:p>
        </p:txBody>
      </p:sp>
      <p:sp>
        <p:nvSpPr>
          <p:cNvPr id="303" name="Google Shape;303;p25"/>
          <p:cNvSpPr txBox="1"/>
          <p:nvPr/>
        </p:nvSpPr>
        <p:spPr>
          <a:xfrm>
            <a:off x="9585666" y="3269902"/>
            <a:ext cx="1752562" cy="171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38BDF8"/>
                </a:solidFill>
                <a:latin typeface="Space Grotesk"/>
                <a:ea typeface="Space Grotesk"/>
                <a:cs typeface="Space Grotesk"/>
                <a:sym typeface="Space Grotesk"/>
              </a:rPr>
              <a:t>5. Trigger</a:t>
            </a:r>
            <a:endParaRPr/>
          </a:p>
        </p:txBody>
      </p:sp>
      <p:sp>
        <p:nvSpPr>
          <p:cNvPr id="304" name="Google Shape;304;p25"/>
          <p:cNvSpPr txBox="1"/>
          <p:nvPr/>
        </p:nvSpPr>
        <p:spPr>
          <a:xfrm>
            <a:off x="9627393" y="3479452"/>
            <a:ext cx="1669107" cy="29319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825" b="0" i="0" u="none" strike="noStrike" cap="none">
                <a:solidFill>
                  <a:srgbClr val="9CA3AF"/>
                </a:solidFill>
                <a:latin typeface="Plus Jakarta Sans"/>
                <a:ea typeface="Plus Jakarta Sans"/>
                <a:cs typeface="Plus Jakarta Sans"/>
                <a:sym typeface="Plus Jakarta Sans"/>
              </a:rPr>
              <a:t>Alert triggers webhook out to SOAR pipelines.</a:t>
            </a:r>
            <a:endParaRPr/>
          </a:p>
        </p:txBody>
      </p:sp>
      <p:sp>
        <p:nvSpPr>
          <p:cNvPr id="305" name="Google Shape;305;p25"/>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Data Ingestion Lifecycle</a:t>
            </a:r>
            <a:endParaRPr/>
          </a:p>
        </p:txBody>
      </p:sp>
      <p:sp>
        <p:nvSpPr>
          <p:cNvPr id="306" name="Google Shape;306;p25"/>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5"/>
          <p:cNvSpPr/>
          <p:nvPr/>
        </p:nvSpPr>
        <p:spPr>
          <a:xfrm>
            <a:off x="1663228" y="4467969"/>
            <a:ext cx="133350" cy="133350"/>
          </a:xfrm>
          <a:prstGeom prst="roundRect">
            <a:avLst>
              <a:gd name="adj" fmla="val 50000"/>
            </a:avLst>
          </a:prstGeom>
          <a:solidFill>
            <a:srgbClr val="0B0F19"/>
          </a:solidFill>
          <a:ln w="28575"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25"/>
          <p:cNvSpPr/>
          <p:nvPr/>
        </p:nvSpPr>
        <p:spPr>
          <a:xfrm>
            <a:off x="3846239" y="4467969"/>
            <a:ext cx="133350" cy="133350"/>
          </a:xfrm>
          <a:prstGeom prst="roundRect">
            <a:avLst>
              <a:gd name="adj" fmla="val 50000"/>
            </a:avLst>
          </a:prstGeom>
          <a:solidFill>
            <a:srgbClr val="0B0F19"/>
          </a:solidFill>
          <a:ln w="28575"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9" name="Google Shape;309;p25"/>
          <p:cNvSpPr/>
          <p:nvPr/>
        </p:nvSpPr>
        <p:spPr>
          <a:xfrm>
            <a:off x="6029250" y="4467969"/>
            <a:ext cx="133350" cy="133350"/>
          </a:xfrm>
          <a:prstGeom prst="roundRect">
            <a:avLst>
              <a:gd name="adj" fmla="val 50000"/>
            </a:avLst>
          </a:prstGeom>
          <a:solidFill>
            <a:srgbClr val="0B0F19"/>
          </a:solidFill>
          <a:ln w="28575"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0" name="Google Shape;310;p25"/>
          <p:cNvSpPr/>
          <p:nvPr/>
        </p:nvSpPr>
        <p:spPr>
          <a:xfrm>
            <a:off x="8212261" y="4467969"/>
            <a:ext cx="133350" cy="133350"/>
          </a:xfrm>
          <a:prstGeom prst="roundRect">
            <a:avLst>
              <a:gd name="adj" fmla="val 50000"/>
            </a:avLst>
          </a:prstGeom>
          <a:solidFill>
            <a:srgbClr val="0B0F19"/>
          </a:solidFill>
          <a:ln w="28575"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1" name="Google Shape;311;p25"/>
          <p:cNvSpPr/>
          <p:nvPr/>
        </p:nvSpPr>
        <p:spPr>
          <a:xfrm>
            <a:off x="10395272" y="4467969"/>
            <a:ext cx="133350" cy="133350"/>
          </a:xfrm>
          <a:prstGeom prst="roundRect">
            <a:avLst>
              <a:gd name="adj" fmla="val 50000"/>
            </a:avLst>
          </a:prstGeom>
          <a:solidFill>
            <a:srgbClr val="0B0F19"/>
          </a:solidFill>
          <a:ln w="28575"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315"/>
        <p:cNvGrpSpPr/>
        <p:nvPr/>
      </p:nvGrpSpPr>
      <p:grpSpPr>
        <a:xfrm>
          <a:off x="0" y="0"/>
          <a:ext cx="0" cy="0"/>
          <a:chOff x="0" y="0"/>
          <a:chExt cx="0" cy="0"/>
        </a:xfrm>
      </p:grpSpPr>
      <p:pic>
        <p:nvPicPr>
          <p:cNvPr id="316" name="Google Shape;316;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7" name="Google Shape;317;p26"/>
          <p:cNvSpPr txBox="1"/>
          <p:nvPr/>
        </p:nvSpPr>
        <p:spPr>
          <a:xfrm>
            <a:off x="4787715" y="3052762"/>
            <a:ext cx="2616420" cy="628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FFFFFF"/>
                </a:solidFill>
                <a:latin typeface="Space Grotesk"/>
                <a:ea typeface="Space Grotesk"/>
                <a:cs typeface="Space Grotesk"/>
                <a:sym typeface="Space Grotesk"/>
              </a:rPr>
              <a:t>Section 03</a:t>
            </a:r>
            <a:endParaRPr/>
          </a:p>
        </p:txBody>
      </p:sp>
      <p:sp>
        <p:nvSpPr>
          <p:cNvPr id="318" name="Google Shape;318;p26"/>
          <p:cNvSpPr txBox="1"/>
          <p:nvPr/>
        </p:nvSpPr>
        <p:spPr>
          <a:xfrm>
            <a:off x="3805237" y="3824287"/>
            <a:ext cx="4581525"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CA3AF"/>
                </a:solidFill>
                <a:latin typeface="Plus Jakarta Sans"/>
                <a:ea typeface="Plus Jakarta Sans"/>
                <a:cs typeface="Plus Jakarta Sans"/>
                <a:sym typeface="Plus Jakarta Sans"/>
              </a:rPr>
              <a:t>Custom Detection Engineering &amp; MITRE ATT&amp;CK Mapping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322"/>
        <p:cNvGrpSpPr/>
        <p:nvPr/>
      </p:nvGrpSpPr>
      <p:grpSpPr>
        <a:xfrm>
          <a:off x="0" y="0"/>
          <a:ext cx="0" cy="0"/>
          <a:chOff x="0" y="0"/>
          <a:chExt cx="0" cy="0"/>
        </a:xfrm>
      </p:grpSpPr>
      <p:pic>
        <p:nvPicPr>
          <p:cNvPr id="323" name="Google Shape;323;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4" name="Google Shape;324;p27" descr="image.png"/>
          <p:cNvPicPr preferRelativeResize="0"/>
          <p:nvPr/>
        </p:nvPicPr>
        <p:blipFill rotWithShape="1">
          <a:blip r:embed="rId4">
            <a:alphaModFix/>
          </a:blip>
          <a:srcRect/>
          <a:stretch/>
        </p:blipFill>
        <p:spPr>
          <a:xfrm>
            <a:off x="771525" y="1222920"/>
            <a:ext cx="10648950" cy="5054054"/>
          </a:xfrm>
          <a:prstGeom prst="rect">
            <a:avLst/>
          </a:prstGeom>
          <a:noFill/>
          <a:ln>
            <a:noFill/>
          </a:ln>
        </p:spPr>
      </p:pic>
      <p:pic>
        <p:nvPicPr>
          <p:cNvPr id="325" name="Google Shape;325;p27" descr="image.png"/>
          <p:cNvPicPr preferRelativeResize="0"/>
          <p:nvPr/>
        </p:nvPicPr>
        <p:blipFill rotWithShape="1">
          <a:blip r:embed="rId5">
            <a:alphaModFix/>
          </a:blip>
          <a:srcRect/>
          <a:stretch/>
        </p:blipFill>
        <p:spPr>
          <a:xfrm>
            <a:off x="771525" y="6381750"/>
            <a:ext cx="10648950" cy="228600"/>
          </a:xfrm>
          <a:prstGeom prst="rect">
            <a:avLst/>
          </a:prstGeom>
          <a:noFill/>
          <a:ln>
            <a:noFill/>
          </a:ln>
        </p:spPr>
      </p:pic>
      <p:sp>
        <p:nvSpPr>
          <p:cNvPr id="326" name="Google Shape;326;p27"/>
          <p:cNvSpPr txBox="1"/>
          <p:nvPr/>
        </p:nvSpPr>
        <p:spPr>
          <a:xfrm>
            <a:off x="771525" y="6486525"/>
            <a:ext cx="6000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15 / 25</a:t>
            </a:r>
            <a:endParaRPr/>
          </a:p>
        </p:txBody>
      </p:sp>
      <p:sp>
        <p:nvSpPr>
          <p:cNvPr id="327" name="Google Shape;327;p27"/>
          <p:cNvSpPr txBox="1"/>
          <p:nvPr/>
        </p:nvSpPr>
        <p:spPr>
          <a:xfrm>
            <a:off x="10267950" y="6486525"/>
            <a:ext cx="115252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MITRE Detection Focus</a:t>
            </a:r>
            <a:endParaRPr/>
          </a:p>
        </p:txBody>
      </p:sp>
      <p:sp>
        <p:nvSpPr>
          <p:cNvPr id="328" name="Google Shape;328;p27"/>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MITRE ATT&amp;CK Framework Mapping</a:t>
            </a:r>
            <a:endParaRPr/>
          </a:p>
        </p:txBody>
      </p:sp>
      <p:sp>
        <p:nvSpPr>
          <p:cNvPr id="329" name="Google Shape;329;p27"/>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333"/>
        <p:cNvGrpSpPr/>
        <p:nvPr/>
      </p:nvGrpSpPr>
      <p:grpSpPr>
        <a:xfrm>
          <a:off x="0" y="0"/>
          <a:ext cx="0" cy="0"/>
          <a:chOff x="0" y="0"/>
          <a:chExt cx="0" cy="0"/>
        </a:xfrm>
      </p:grpSpPr>
      <p:pic>
        <p:nvPicPr>
          <p:cNvPr id="334" name="Google Shape;334;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5" name="Google Shape;335;p28" descr="image.png"/>
          <p:cNvPicPr preferRelativeResize="0"/>
          <p:nvPr/>
        </p:nvPicPr>
        <p:blipFill rotWithShape="1">
          <a:blip r:embed="rId4">
            <a:alphaModFix/>
          </a:blip>
          <a:srcRect/>
          <a:stretch/>
        </p:blipFill>
        <p:spPr>
          <a:xfrm>
            <a:off x="771525" y="3020466"/>
            <a:ext cx="5133975" cy="1458962"/>
          </a:xfrm>
          <a:prstGeom prst="rect">
            <a:avLst/>
          </a:prstGeom>
          <a:noFill/>
          <a:ln>
            <a:noFill/>
          </a:ln>
        </p:spPr>
      </p:pic>
      <p:pic>
        <p:nvPicPr>
          <p:cNvPr id="336" name="Google Shape;336;p28" descr="image.png"/>
          <p:cNvPicPr preferRelativeResize="0"/>
          <p:nvPr/>
        </p:nvPicPr>
        <p:blipFill rotWithShape="1">
          <a:blip r:embed="rId5">
            <a:alphaModFix/>
          </a:blip>
          <a:srcRect/>
          <a:stretch/>
        </p:blipFill>
        <p:spPr>
          <a:xfrm>
            <a:off x="6286500" y="3020466"/>
            <a:ext cx="5133975" cy="1458962"/>
          </a:xfrm>
          <a:prstGeom prst="rect">
            <a:avLst/>
          </a:prstGeom>
          <a:noFill/>
          <a:ln>
            <a:noFill/>
          </a:ln>
        </p:spPr>
      </p:pic>
      <p:pic>
        <p:nvPicPr>
          <p:cNvPr id="337" name="Google Shape;337;p28"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338" name="Google Shape;338;p28"/>
          <p:cNvSpPr txBox="1"/>
          <p:nvPr/>
        </p:nvSpPr>
        <p:spPr>
          <a:xfrm>
            <a:off x="771525" y="6486525"/>
            <a:ext cx="6000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16 / 25</a:t>
            </a:r>
            <a:endParaRPr/>
          </a:p>
        </p:txBody>
      </p:sp>
      <p:sp>
        <p:nvSpPr>
          <p:cNvPr id="339" name="Google Shape;339;p28"/>
          <p:cNvSpPr txBox="1"/>
          <p:nvPr/>
        </p:nvSpPr>
        <p:spPr>
          <a:xfrm>
            <a:off x="10553700" y="6486525"/>
            <a:ext cx="8667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Detection Logic 1</a:t>
            </a:r>
            <a:endParaRPr/>
          </a:p>
        </p:txBody>
      </p:sp>
      <p:sp>
        <p:nvSpPr>
          <p:cNvPr id="340" name="Google Shape;340;p28"/>
          <p:cNvSpPr txBox="1"/>
          <p:nvPr/>
        </p:nvSpPr>
        <p:spPr>
          <a:xfrm>
            <a:off x="1038225" y="3258591"/>
            <a:ext cx="4860607"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Telemetry Logic</a:t>
            </a:r>
            <a:endParaRPr/>
          </a:p>
        </p:txBody>
      </p:sp>
      <p:sp>
        <p:nvSpPr>
          <p:cNvPr id="341" name="Google Shape;341;p28"/>
          <p:cNvSpPr txBox="1"/>
          <p:nvPr/>
        </p:nvSpPr>
        <p:spPr>
          <a:xfrm>
            <a:off x="1038225" y="3601491"/>
            <a:ext cx="4629150"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Targets Event ID 4625 (An account failed to log on) within Windows Security logs. Standard systems log these raw events endlessly without grouping, causing major alert backlogs.</a:t>
            </a:r>
            <a:endParaRPr/>
          </a:p>
        </p:txBody>
      </p:sp>
      <p:sp>
        <p:nvSpPr>
          <p:cNvPr id="342" name="Google Shape;342;p28"/>
          <p:cNvSpPr txBox="1"/>
          <p:nvPr/>
        </p:nvSpPr>
        <p:spPr>
          <a:xfrm>
            <a:off x="6553200" y="3258591"/>
            <a:ext cx="4860607"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Aggregation Filter</a:t>
            </a:r>
            <a:endParaRPr/>
          </a:p>
        </p:txBody>
      </p:sp>
      <p:sp>
        <p:nvSpPr>
          <p:cNvPr id="343" name="Google Shape;343;p28"/>
          <p:cNvSpPr txBox="1"/>
          <p:nvPr/>
        </p:nvSpPr>
        <p:spPr>
          <a:xfrm>
            <a:off x="6553200" y="3601491"/>
            <a:ext cx="4629150"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SPL logic counts failures per target IP address. If attempts exceed </a:t>
            </a:r>
            <a:r>
              <a:rPr lang="en-US" sz="1050" b="1" i="0" u="none" strike="noStrike" cap="none">
                <a:solidFill>
                  <a:srgbClr val="9CA3AF"/>
                </a:solidFill>
                <a:latin typeface="Plus Jakarta Sans"/>
                <a:ea typeface="Plus Jakarta Sans"/>
                <a:cs typeface="Plus Jakarta Sans"/>
                <a:sym typeface="Plus Jakarta Sans"/>
              </a:rPr>
              <a:t>20 failed logins within 5 minutes</a:t>
            </a:r>
            <a:r>
              <a:rPr lang="en-US" sz="1050" b="0" i="0" u="none" strike="noStrike" cap="none">
                <a:solidFill>
                  <a:srgbClr val="9CA3AF"/>
                </a:solidFill>
                <a:latin typeface="Plus Jakarta Sans"/>
                <a:ea typeface="Plus Jakarta Sans"/>
                <a:cs typeface="Plus Jakarta Sans"/>
                <a:sym typeface="Plus Jakarta Sans"/>
              </a:rPr>
              <a:t>, we mark it malicious, extract the source IP, and dispatch an active threat packet.</a:t>
            </a:r>
            <a:endParaRPr/>
          </a:p>
        </p:txBody>
      </p:sp>
      <p:sp>
        <p:nvSpPr>
          <p:cNvPr id="344" name="Google Shape;344;p28"/>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Detection 1: Brute Force Attacks</a:t>
            </a:r>
            <a:endParaRPr/>
          </a:p>
        </p:txBody>
      </p:sp>
      <p:sp>
        <p:nvSpPr>
          <p:cNvPr id="345" name="Google Shape;345;p28"/>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349"/>
        <p:cNvGrpSpPr/>
        <p:nvPr/>
      </p:nvGrpSpPr>
      <p:grpSpPr>
        <a:xfrm>
          <a:off x="0" y="0"/>
          <a:ext cx="0" cy="0"/>
          <a:chOff x="0" y="0"/>
          <a:chExt cx="0" cy="0"/>
        </a:xfrm>
      </p:grpSpPr>
      <p:pic>
        <p:nvPicPr>
          <p:cNvPr id="350" name="Google Shape;350;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1" name="Google Shape;351;p29" descr="image.png"/>
          <p:cNvPicPr preferRelativeResize="0"/>
          <p:nvPr/>
        </p:nvPicPr>
        <p:blipFill rotWithShape="1">
          <a:blip r:embed="rId4">
            <a:alphaModFix/>
          </a:blip>
          <a:srcRect/>
          <a:stretch/>
        </p:blipFill>
        <p:spPr>
          <a:xfrm>
            <a:off x="771525" y="3010941"/>
            <a:ext cx="5133975" cy="1478012"/>
          </a:xfrm>
          <a:prstGeom prst="rect">
            <a:avLst/>
          </a:prstGeom>
          <a:noFill/>
          <a:ln>
            <a:noFill/>
          </a:ln>
        </p:spPr>
      </p:pic>
      <p:pic>
        <p:nvPicPr>
          <p:cNvPr id="352" name="Google Shape;352;p29" descr="image.png"/>
          <p:cNvPicPr preferRelativeResize="0"/>
          <p:nvPr/>
        </p:nvPicPr>
        <p:blipFill rotWithShape="1">
          <a:blip r:embed="rId5">
            <a:alphaModFix/>
          </a:blip>
          <a:srcRect/>
          <a:stretch/>
        </p:blipFill>
        <p:spPr>
          <a:xfrm>
            <a:off x="6286500" y="3010941"/>
            <a:ext cx="5133975" cy="1478012"/>
          </a:xfrm>
          <a:prstGeom prst="rect">
            <a:avLst/>
          </a:prstGeom>
          <a:noFill/>
          <a:ln>
            <a:noFill/>
          </a:ln>
        </p:spPr>
      </p:pic>
      <p:pic>
        <p:nvPicPr>
          <p:cNvPr id="353" name="Google Shape;353;p29"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354" name="Google Shape;354;p29"/>
          <p:cNvSpPr txBox="1"/>
          <p:nvPr/>
        </p:nvSpPr>
        <p:spPr>
          <a:xfrm>
            <a:off x="771525" y="6486525"/>
            <a:ext cx="5905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17 / 25</a:t>
            </a:r>
            <a:endParaRPr/>
          </a:p>
        </p:txBody>
      </p:sp>
      <p:sp>
        <p:nvSpPr>
          <p:cNvPr id="355" name="Google Shape;355;p29"/>
          <p:cNvSpPr txBox="1"/>
          <p:nvPr/>
        </p:nvSpPr>
        <p:spPr>
          <a:xfrm>
            <a:off x="10525125" y="6486525"/>
            <a:ext cx="8953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Detection Logic 2</a:t>
            </a:r>
            <a:endParaRPr/>
          </a:p>
        </p:txBody>
      </p:sp>
      <p:sp>
        <p:nvSpPr>
          <p:cNvPr id="356" name="Google Shape;356;p29"/>
          <p:cNvSpPr txBox="1"/>
          <p:nvPr/>
        </p:nvSpPr>
        <p:spPr>
          <a:xfrm>
            <a:off x="1038225" y="3249066"/>
            <a:ext cx="4860607"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Process Command Audits</a:t>
            </a:r>
            <a:endParaRPr/>
          </a:p>
        </p:txBody>
      </p:sp>
      <p:sp>
        <p:nvSpPr>
          <p:cNvPr id="357" name="Google Shape;357;p29"/>
          <p:cNvSpPr txBox="1"/>
          <p:nvPr/>
        </p:nvSpPr>
        <p:spPr>
          <a:xfrm>
            <a:off x="1038225" y="3591966"/>
            <a:ext cx="4629150" cy="63981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Targets Sysmon Event ID 1 (Process Creation). Traditional antivirus tools often miss scripts executing commands inside legitimate host processes like powershell.exe.</a:t>
            </a:r>
            <a:endParaRPr/>
          </a:p>
        </p:txBody>
      </p:sp>
      <p:sp>
        <p:nvSpPr>
          <p:cNvPr id="358" name="Google Shape;358;p29"/>
          <p:cNvSpPr txBox="1"/>
          <p:nvPr/>
        </p:nvSpPr>
        <p:spPr>
          <a:xfrm>
            <a:off x="6553200" y="3249066"/>
            <a:ext cx="4860607"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Keyword Identifiers</a:t>
            </a:r>
            <a:endParaRPr/>
          </a:p>
        </p:txBody>
      </p:sp>
      <p:sp>
        <p:nvSpPr>
          <p:cNvPr id="359" name="Google Shape;359;p29"/>
          <p:cNvSpPr txBox="1"/>
          <p:nvPr/>
        </p:nvSpPr>
        <p:spPr>
          <a:xfrm>
            <a:off x="6553200" y="3591966"/>
            <a:ext cx="4629150" cy="65886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Our Splunk alert monitors arguments for obfuscation patterns such as -EncodedCommand, IEX, DownloadString, or hidden window execution strings.</a:t>
            </a:r>
            <a:endParaRPr/>
          </a:p>
        </p:txBody>
      </p:sp>
      <p:sp>
        <p:nvSpPr>
          <p:cNvPr id="360" name="Google Shape;360;p29"/>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Detection 2: Fileless Script Abuse</a:t>
            </a:r>
            <a:endParaRPr/>
          </a:p>
        </p:txBody>
      </p:sp>
      <p:sp>
        <p:nvSpPr>
          <p:cNvPr id="361" name="Google Shape;361;p29"/>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365"/>
        <p:cNvGrpSpPr/>
        <p:nvPr/>
      </p:nvGrpSpPr>
      <p:grpSpPr>
        <a:xfrm>
          <a:off x="0" y="0"/>
          <a:ext cx="0" cy="0"/>
          <a:chOff x="0" y="0"/>
          <a:chExt cx="0" cy="0"/>
        </a:xfrm>
      </p:grpSpPr>
      <p:pic>
        <p:nvPicPr>
          <p:cNvPr id="366" name="Google Shape;366;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67" name="Google Shape;367;p30" descr="image.png"/>
          <p:cNvPicPr preferRelativeResize="0"/>
          <p:nvPr/>
        </p:nvPicPr>
        <p:blipFill rotWithShape="1">
          <a:blip r:embed="rId4">
            <a:alphaModFix/>
          </a:blip>
          <a:srcRect/>
          <a:stretch/>
        </p:blipFill>
        <p:spPr>
          <a:xfrm>
            <a:off x="771525" y="2908994"/>
            <a:ext cx="5133975" cy="1681757"/>
          </a:xfrm>
          <a:prstGeom prst="rect">
            <a:avLst/>
          </a:prstGeom>
          <a:noFill/>
          <a:ln>
            <a:noFill/>
          </a:ln>
        </p:spPr>
      </p:pic>
      <p:pic>
        <p:nvPicPr>
          <p:cNvPr id="368" name="Google Shape;368;p30" descr="image.png"/>
          <p:cNvPicPr preferRelativeResize="0"/>
          <p:nvPr/>
        </p:nvPicPr>
        <p:blipFill rotWithShape="1">
          <a:blip r:embed="rId5">
            <a:alphaModFix/>
          </a:blip>
          <a:srcRect/>
          <a:stretch/>
        </p:blipFill>
        <p:spPr>
          <a:xfrm>
            <a:off x="6286500" y="2908994"/>
            <a:ext cx="5133975" cy="1681757"/>
          </a:xfrm>
          <a:prstGeom prst="rect">
            <a:avLst/>
          </a:prstGeom>
          <a:noFill/>
          <a:ln>
            <a:noFill/>
          </a:ln>
        </p:spPr>
      </p:pic>
      <p:pic>
        <p:nvPicPr>
          <p:cNvPr id="369" name="Google Shape;369;p30"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370" name="Google Shape;370;p30"/>
          <p:cNvSpPr txBox="1"/>
          <p:nvPr/>
        </p:nvSpPr>
        <p:spPr>
          <a:xfrm>
            <a:off x="771525" y="6486525"/>
            <a:ext cx="6000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18 / 25</a:t>
            </a:r>
            <a:endParaRPr/>
          </a:p>
        </p:txBody>
      </p:sp>
      <p:sp>
        <p:nvSpPr>
          <p:cNvPr id="371" name="Google Shape;371;p30"/>
          <p:cNvSpPr txBox="1"/>
          <p:nvPr/>
        </p:nvSpPr>
        <p:spPr>
          <a:xfrm>
            <a:off x="10525125" y="6486525"/>
            <a:ext cx="8953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Detection Logic 3</a:t>
            </a:r>
            <a:endParaRPr/>
          </a:p>
        </p:txBody>
      </p:sp>
      <p:sp>
        <p:nvSpPr>
          <p:cNvPr id="372" name="Google Shape;372;p30"/>
          <p:cNvSpPr txBox="1"/>
          <p:nvPr/>
        </p:nvSpPr>
        <p:spPr>
          <a:xfrm>
            <a:off x="1038225" y="3147119"/>
            <a:ext cx="4860607"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Key Modification Tracking</a:t>
            </a:r>
            <a:endParaRPr/>
          </a:p>
        </p:txBody>
      </p:sp>
      <p:sp>
        <p:nvSpPr>
          <p:cNvPr id="373" name="Google Shape;373;p30"/>
          <p:cNvSpPr txBox="1"/>
          <p:nvPr/>
        </p:nvSpPr>
        <p:spPr>
          <a:xfrm>
            <a:off x="1038225" y="3490019"/>
            <a:ext cx="4629150" cy="426541"/>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Monitors Sysmon Event IDs 12, 13, and 14 (Registry Event). Attackers often establish persistence by adding values inside startup registry paths.</a:t>
            </a:r>
            <a:endParaRPr/>
          </a:p>
        </p:txBody>
      </p:sp>
      <p:sp>
        <p:nvSpPr>
          <p:cNvPr id="374" name="Google Shape;374;p30"/>
          <p:cNvSpPr txBox="1"/>
          <p:nvPr/>
        </p:nvSpPr>
        <p:spPr>
          <a:xfrm>
            <a:off x="6553200" y="3147119"/>
            <a:ext cx="4860607"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38BDF8"/>
                </a:solidFill>
                <a:latin typeface="Space Grotesk"/>
                <a:ea typeface="Space Grotesk"/>
                <a:cs typeface="Space Grotesk"/>
                <a:sym typeface="Space Grotesk"/>
              </a:rPr>
              <a:t>Alert Trigger</a:t>
            </a:r>
            <a:endParaRPr/>
          </a:p>
        </p:txBody>
      </p:sp>
      <p:sp>
        <p:nvSpPr>
          <p:cNvPr id="375" name="Google Shape;375;p30"/>
          <p:cNvSpPr txBox="1"/>
          <p:nvPr/>
        </p:nvSpPr>
        <p:spPr>
          <a:xfrm>
            <a:off x="6553200" y="3490019"/>
            <a:ext cx="4629150" cy="862607"/>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CA3AF"/>
                </a:solidFill>
                <a:latin typeface="Plus Jakarta Sans"/>
                <a:ea typeface="Plus Jakarta Sans"/>
                <a:cs typeface="Plus Jakarta Sans"/>
                <a:sym typeface="Plus Jakarta Sans"/>
              </a:rPr>
              <a:t>Fires instantly when values write to HKLM\Software\Microsoft\Windows\CurrentVersion\Run paths. Isolates the specific system path to help analysts locate and remove registry keys.</a:t>
            </a:r>
            <a:endParaRPr/>
          </a:p>
        </p:txBody>
      </p:sp>
      <p:sp>
        <p:nvSpPr>
          <p:cNvPr id="376" name="Google Shape;376;p30"/>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Detection 3: Registry Persistence</a:t>
            </a:r>
            <a:endParaRPr/>
          </a:p>
        </p:txBody>
      </p:sp>
      <p:sp>
        <p:nvSpPr>
          <p:cNvPr id="377" name="Google Shape;377;p30"/>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381"/>
        <p:cNvGrpSpPr/>
        <p:nvPr/>
      </p:nvGrpSpPr>
      <p:grpSpPr>
        <a:xfrm>
          <a:off x="0" y="0"/>
          <a:ext cx="0" cy="0"/>
          <a:chOff x="0" y="0"/>
          <a:chExt cx="0" cy="0"/>
        </a:xfrm>
      </p:grpSpPr>
      <p:pic>
        <p:nvPicPr>
          <p:cNvPr id="382" name="Google Shape;382;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83" name="Google Shape;383;p31"/>
          <p:cNvSpPr txBox="1"/>
          <p:nvPr/>
        </p:nvSpPr>
        <p:spPr>
          <a:xfrm>
            <a:off x="4782714" y="3052762"/>
            <a:ext cx="2626422" cy="628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FFFFFF"/>
                </a:solidFill>
                <a:latin typeface="Space Grotesk"/>
                <a:ea typeface="Space Grotesk"/>
                <a:cs typeface="Space Grotesk"/>
                <a:sym typeface="Space Grotesk"/>
              </a:rPr>
              <a:t>Section 04</a:t>
            </a:r>
            <a:endParaRPr/>
          </a:p>
        </p:txBody>
      </p:sp>
      <p:sp>
        <p:nvSpPr>
          <p:cNvPr id="384" name="Google Shape;384;p31"/>
          <p:cNvSpPr txBox="1"/>
          <p:nvPr/>
        </p:nvSpPr>
        <p:spPr>
          <a:xfrm>
            <a:off x="4552950" y="3824287"/>
            <a:ext cx="308610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CA3AF"/>
                </a:solidFill>
                <a:latin typeface="Plus Jakarta Sans"/>
                <a:ea typeface="Plus Jakarta Sans"/>
                <a:cs typeface="Plus Jakarta Sans"/>
                <a:sym typeface="Plus Jakarta Sans"/>
              </a:rPr>
              <a:t>SOAR Integration &amp; Cognitive AI Triage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388"/>
        <p:cNvGrpSpPr/>
        <p:nvPr/>
      </p:nvGrpSpPr>
      <p:grpSpPr>
        <a:xfrm>
          <a:off x="0" y="0"/>
          <a:ext cx="0" cy="0"/>
          <a:chOff x="0" y="0"/>
          <a:chExt cx="0" cy="0"/>
        </a:xfrm>
      </p:grpSpPr>
      <p:pic>
        <p:nvPicPr>
          <p:cNvPr id="389" name="Google Shape;389;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90" name="Google Shape;390;p32" descr="image.png"/>
          <p:cNvPicPr preferRelativeResize="0"/>
          <p:nvPr/>
        </p:nvPicPr>
        <p:blipFill rotWithShape="1">
          <a:blip r:embed="rId4">
            <a:alphaModFix/>
          </a:blip>
          <a:srcRect/>
          <a:stretch/>
        </p:blipFill>
        <p:spPr>
          <a:xfrm>
            <a:off x="771525" y="2847379"/>
            <a:ext cx="3422600" cy="1804987"/>
          </a:xfrm>
          <a:prstGeom prst="rect">
            <a:avLst/>
          </a:prstGeom>
          <a:noFill/>
          <a:ln>
            <a:noFill/>
          </a:ln>
        </p:spPr>
      </p:pic>
      <p:pic>
        <p:nvPicPr>
          <p:cNvPr id="391" name="Google Shape;391;p32" descr="image.png"/>
          <p:cNvPicPr preferRelativeResize="0"/>
          <p:nvPr/>
        </p:nvPicPr>
        <p:blipFill rotWithShape="1">
          <a:blip r:embed="rId4">
            <a:alphaModFix/>
          </a:blip>
          <a:srcRect/>
          <a:stretch/>
        </p:blipFill>
        <p:spPr>
          <a:xfrm>
            <a:off x="4384625" y="2847379"/>
            <a:ext cx="3422600" cy="1804987"/>
          </a:xfrm>
          <a:prstGeom prst="rect">
            <a:avLst/>
          </a:prstGeom>
          <a:noFill/>
          <a:ln>
            <a:noFill/>
          </a:ln>
        </p:spPr>
      </p:pic>
      <p:pic>
        <p:nvPicPr>
          <p:cNvPr id="392" name="Google Shape;392;p32" descr="image.png"/>
          <p:cNvPicPr preferRelativeResize="0"/>
          <p:nvPr/>
        </p:nvPicPr>
        <p:blipFill rotWithShape="1">
          <a:blip r:embed="rId5">
            <a:alphaModFix/>
          </a:blip>
          <a:srcRect/>
          <a:stretch/>
        </p:blipFill>
        <p:spPr>
          <a:xfrm>
            <a:off x="7997725" y="2847379"/>
            <a:ext cx="3422600" cy="1804987"/>
          </a:xfrm>
          <a:prstGeom prst="rect">
            <a:avLst/>
          </a:prstGeom>
          <a:noFill/>
          <a:ln>
            <a:noFill/>
          </a:ln>
        </p:spPr>
      </p:pic>
      <p:pic>
        <p:nvPicPr>
          <p:cNvPr id="393" name="Google Shape;393;p32"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394" name="Google Shape;394;p32"/>
          <p:cNvSpPr txBox="1"/>
          <p:nvPr/>
        </p:nvSpPr>
        <p:spPr>
          <a:xfrm>
            <a:off x="771525" y="6486525"/>
            <a:ext cx="6381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20 / 25</a:t>
            </a:r>
            <a:endParaRPr/>
          </a:p>
        </p:txBody>
      </p:sp>
      <p:sp>
        <p:nvSpPr>
          <p:cNvPr id="395" name="Google Shape;395;p32"/>
          <p:cNvSpPr txBox="1"/>
          <p:nvPr/>
        </p:nvSpPr>
        <p:spPr>
          <a:xfrm>
            <a:off x="10401300" y="6486525"/>
            <a:ext cx="10191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SOAR Orchestration</a:t>
            </a:r>
            <a:endParaRPr/>
          </a:p>
        </p:txBody>
      </p:sp>
      <p:sp>
        <p:nvSpPr>
          <p:cNvPr id="396" name="Google Shape;396;p32"/>
          <p:cNvSpPr txBox="1"/>
          <p:nvPr/>
        </p:nvSpPr>
        <p:spPr>
          <a:xfrm>
            <a:off x="971550" y="3561754"/>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Webhook Ingest</a:t>
            </a:r>
            <a:endParaRPr/>
          </a:p>
        </p:txBody>
      </p:sp>
      <p:sp>
        <p:nvSpPr>
          <p:cNvPr id="397" name="Google Shape;397;p32"/>
          <p:cNvSpPr txBox="1"/>
          <p:nvPr/>
        </p:nvSpPr>
        <p:spPr>
          <a:xfrm>
            <a:off x="971550" y="3857029"/>
            <a:ext cx="3022550" cy="557212"/>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Splunk acts as our primary sensor, dispatching real-time JSON alert blocks to n8n webhook listener endpoints.</a:t>
            </a:r>
            <a:endParaRPr/>
          </a:p>
        </p:txBody>
      </p:sp>
      <p:sp>
        <p:nvSpPr>
          <p:cNvPr id="398" name="Google Shape;398;p32"/>
          <p:cNvSpPr txBox="1"/>
          <p:nvPr/>
        </p:nvSpPr>
        <p:spPr>
          <a:xfrm>
            <a:off x="4584650" y="3561754"/>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Parsing Data Nodes</a:t>
            </a:r>
            <a:endParaRPr/>
          </a:p>
        </p:txBody>
      </p:sp>
      <p:sp>
        <p:nvSpPr>
          <p:cNvPr id="399" name="Google Shape;399;p32"/>
          <p:cNvSpPr txBox="1"/>
          <p:nvPr/>
        </p:nvSpPr>
        <p:spPr>
          <a:xfrm>
            <a:off x="4584650" y="3857029"/>
            <a:ext cx="3022550" cy="557212"/>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Custom Javascript logic strips diagnostic headers, extracting pure domain arrays, host IP addresses, and user profiles.</a:t>
            </a:r>
            <a:endParaRPr/>
          </a:p>
        </p:txBody>
      </p:sp>
      <p:sp>
        <p:nvSpPr>
          <p:cNvPr id="400" name="Google Shape;400;p32"/>
          <p:cNvSpPr txBox="1"/>
          <p:nvPr/>
        </p:nvSpPr>
        <p:spPr>
          <a:xfrm>
            <a:off x="8197750" y="3561754"/>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API Routing</a:t>
            </a:r>
            <a:endParaRPr/>
          </a:p>
        </p:txBody>
      </p:sp>
      <p:sp>
        <p:nvSpPr>
          <p:cNvPr id="401" name="Google Shape;401;p32"/>
          <p:cNvSpPr txBox="1"/>
          <p:nvPr/>
        </p:nvSpPr>
        <p:spPr>
          <a:xfrm>
            <a:off x="8197750" y="3857029"/>
            <a:ext cx="3022550" cy="557212"/>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Coordinates sub-workflows to scan bad domains, query reputation databases, and request AI analysis simultaneously.</a:t>
            </a:r>
            <a:endParaRPr/>
          </a:p>
        </p:txBody>
      </p:sp>
      <p:pic>
        <p:nvPicPr>
          <p:cNvPr id="402" name="Google Shape;402;p32" descr="image.png"/>
          <p:cNvPicPr preferRelativeResize="0"/>
          <p:nvPr/>
        </p:nvPicPr>
        <p:blipFill rotWithShape="1">
          <a:blip r:embed="rId7">
            <a:alphaModFix/>
          </a:blip>
          <a:srcRect/>
          <a:stretch/>
        </p:blipFill>
        <p:spPr>
          <a:xfrm>
            <a:off x="971550" y="3133129"/>
            <a:ext cx="238125" cy="266700"/>
          </a:xfrm>
          <a:prstGeom prst="rect">
            <a:avLst/>
          </a:prstGeom>
          <a:noFill/>
          <a:ln>
            <a:noFill/>
          </a:ln>
        </p:spPr>
      </p:pic>
      <p:pic>
        <p:nvPicPr>
          <p:cNvPr id="403" name="Google Shape;403;p32" descr="image.png"/>
          <p:cNvPicPr preferRelativeResize="0"/>
          <p:nvPr/>
        </p:nvPicPr>
        <p:blipFill rotWithShape="1">
          <a:blip r:embed="rId8">
            <a:alphaModFix/>
          </a:blip>
          <a:srcRect/>
          <a:stretch/>
        </p:blipFill>
        <p:spPr>
          <a:xfrm>
            <a:off x="4584650" y="3133129"/>
            <a:ext cx="266700" cy="266700"/>
          </a:xfrm>
          <a:prstGeom prst="rect">
            <a:avLst/>
          </a:prstGeom>
          <a:noFill/>
          <a:ln>
            <a:noFill/>
          </a:ln>
        </p:spPr>
      </p:pic>
      <p:pic>
        <p:nvPicPr>
          <p:cNvPr id="404" name="Google Shape;404;p32" descr="image.png"/>
          <p:cNvPicPr preferRelativeResize="0"/>
          <p:nvPr/>
        </p:nvPicPr>
        <p:blipFill rotWithShape="1">
          <a:blip r:embed="rId9">
            <a:alphaModFix/>
          </a:blip>
          <a:srcRect/>
          <a:stretch/>
        </p:blipFill>
        <p:spPr>
          <a:xfrm>
            <a:off x="8197750" y="3133129"/>
            <a:ext cx="238125" cy="266700"/>
          </a:xfrm>
          <a:prstGeom prst="rect">
            <a:avLst/>
          </a:prstGeom>
          <a:noFill/>
          <a:ln>
            <a:noFill/>
          </a:ln>
        </p:spPr>
      </p:pic>
      <p:sp>
        <p:nvSpPr>
          <p:cNvPr id="405" name="Google Shape;405;p32"/>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SOAR Logic &amp; Playbooks</a:t>
            </a:r>
            <a:endParaRPr/>
          </a:p>
        </p:txBody>
      </p:sp>
      <p:sp>
        <p:nvSpPr>
          <p:cNvPr id="406" name="Google Shape;406;p32"/>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410"/>
        <p:cNvGrpSpPr/>
        <p:nvPr/>
      </p:nvGrpSpPr>
      <p:grpSpPr>
        <a:xfrm>
          <a:off x="0" y="0"/>
          <a:ext cx="0" cy="0"/>
          <a:chOff x="0" y="0"/>
          <a:chExt cx="0" cy="0"/>
        </a:xfrm>
      </p:grpSpPr>
      <p:pic>
        <p:nvPicPr>
          <p:cNvPr id="411" name="Google Shape;411;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12" name="Google Shape;412;p33" descr="image.png"/>
          <p:cNvPicPr preferRelativeResize="0"/>
          <p:nvPr/>
        </p:nvPicPr>
        <p:blipFill rotWithShape="1">
          <a:blip r:embed="rId4">
            <a:alphaModFix/>
          </a:blip>
          <a:srcRect/>
          <a:stretch/>
        </p:blipFill>
        <p:spPr>
          <a:xfrm>
            <a:off x="771525" y="6381750"/>
            <a:ext cx="10648950" cy="228600"/>
          </a:xfrm>
          <a:prstGeom prst="rect">
            <a:avLst/>
          </a:prstGeom>
          <a:noFill/>
          <a:ln>
            <a:noFill/>
          </a:ln>
        </p:spPr>
      </p:pic>
      <p:sp>
        <p:nvSpPr>
          <p:cNvPr id="413" name="Google Shape;413;p33"/>
          <p:cNvSpPr txBox="1"/>
          <p:nvPr/>
        </p:nvSpPr>
        <p:spPr>
          <a:xfrm>
            <a:off x="771525" y="6486525"/>
            <a:ext cx="6000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21 / 25</a:t>
            </a:r>
            <a:endParaRPr/>
          </a:p>
        </p:txBody>
      </p:sp>
      <p:sp>
        <p:nvSpPr>
          <p:cNvPr id="414" name="Google Shape;414;p33"/>
          <p:cNvSpPr txBox="1"/>
          <p:nvPr/>
        </p:nvSpPr>
        <p:spPr>
          <a:xfrm>
            <a:off x="10515600" y="6486525"/>
            <a:ext cx="9048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Threat Enrichment</a:t>
            </a:r>
            <a:endParaRPr/>
          </a:p>
        </p:txBody>
      </p:sp>
      <p:sp>
        <p:nvSpPr>
          <p:cNvPr id="415" name="Google Shape;415;p33"/>
          <p:cNvSpPr txBox="1"/>
          <p:nvPr/>
        </p:nvSpPr>
        <p:spPr>
          <a:xfrm>
            <a:off x="771525" y="3068835"/>
            <a:ext cx="5133975" cy="1047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8250" b="1" i="0" u="none" strike="noStrike" cap="none">
                <a:solidFill>
                  <a:srgbClr val="38BDF8"/>
                </a:solidFill>
                <a:latin typeface="Space Grotesk"/>
                <a:ea typeface="Space Grotesk"/>
                <a:cs typeface="Space Grotesk"/>
                <a:sym typeface="Space Grotesk"/>
              </a:rPr>
              <a:t>100%</a:t>
            </a:r>
            <a:endParaRPr/>
          </a:p>
        </p:txBody>
      </p:sp>
      <p:sp>
        <p:nvSpPr>
          <p:cNvPr id="416" name="Google Shape;416;p33"/>
          <p:cNvSpPr txBox="1"/>
          <p:nvPr/>
        </p:nvSpPr>
        <p:spPr>
          <a:xfrm>
            <a:off x="771525" y="4211835"/>
            <a:ext cx="5133975"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10B981"/>
                </a:solidFill>
                <a:latin typeface="Plus Jakarta Sans SemiBold"/>
                <a:ea typeface="Plus Jakarta Sans SemiBold"/>
                <a:cs typeface="Plus Jakarta Sans SemiBold"/>
                <a:sym typeface="Plus Jakarta Sans SemiBold"/>
              </a:rPr>
              <a:t>Automatic Reputation Scanning</a:t>
            </a:r>
            <a:endParaRPr/>
          </a:p>
        </p:txBody>
      </p:sp>
      <p:sp>
        <p:nvSpPr>
          <p:cNvPr id="417" name="Google Shape;417;p33"/>
          <p:cNvSpPr txBox="1"/>
          <p:nvPr/>
        </p:nvSpPr>
        <p:spPr>
          <a:xfrm>
            <a:off x="6286500" y="3297435"/>
            <a:ext cx="5390673"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38BDF8"/>
                </a:solidFill>
                <a:latin typeface="Space Grotesk"/>
                <a:ea typeface="Space Grotesk"/>
                <a:cs typeface="Space Grotesk"/>
                <a:sym typeface="Space Grotesk"/>
              </a:rPr>
              <a:t>VirusTotal API Integration</a:t>
            </a:r>
            <a:endParaRPr/>
          </a:p>
        </p:txBody>
      </p:sp>
      <p:sp>
        <p:nvSpPr>
          <p:cNvPr id="418" name="Google Shape;418;p33"/>
          <p:cNvSpPr txBox="1"/>
          <p:nvPr/>
        </p:nvSpPr>
        <p:spPr>
          <a:xfrm>
            <a:off x="6286500" y="3516510"/>
            <a:ext cx="513397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dirty="0">
                <a:solidFill>
                  <a:srgbClr val="9CA3AF"/>
                </a:solidFill>
                <a:latin typeface="Plus Jakarta Sans"/>
                <a:ea typeface="Plus Jakarta Sans"/>
                <a:cs typeface="Plus Jakarta Sans"/>
                <a:sym typeface="Plus Jakarta Sans"/>
              </a:rPr>
              <a:t>Before notifying security teams, extracted domain items are sent to VirusTotal. This identifies </a:t>
            </a:r>
            <a:r>
              <a:rPr lang="en-US" sz="1125" b="0" i="0" u="none" strike="noStrike" cap="none" dirty="0" err="1">
                <a:solidFill>
                  <a:srgbClr val="9CA3AF"/>
                </a:solidFill>
                <a:latin typeface="Plus Jakarta Sans"/>
                <a:ea typeface="Plus Jakarta Sans"/>
                <a:cs typeface="Plus Jakarta Sans"/>
                <a:sym typeface="Plus Jakarta Sans"/>
              </a:rPr>
              <a:t>malicous</a:t>
            </a:r>
            <a:r>
              <a:rPr lang="en-US" sz="1125" b="0" i="0" u="none" strike="noStrike" cap="none" dirty="0">
                <a:solidFill>
                  <a:srgbClr val="9CA3AF"/>
                </a:solidFill>
                <a:latin typeface="Plus Jakarta Sans"/>
                <a:ea typeface="Plus Jakarta Sans"/>
                <a:cs typeface="Plus Jakarta Sans"/>
                <a:sym typeface="Plus Jakarta Sans"/>
              </a:rPr>
              <a:t> file associations, preventing analyst notification overload.</a:t>
            </a:r>
            <a:endParaRPr dirty="0"/>
          </a:p>
        </p:txBody>
      </p:sp>
      <p:sp>
        <p:nvSpPr>
          <p:cNvPr id="419" name="Google Shape;419;p33"/>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Threat Intel Enrichment</a:t>
            </a:r>
            <a:endParaRPr/>
          </a:p>
        </p:txBody>
      </p:sp>
      <p:sp>
        <p:nvSpPr>
          <p:cNvPr id="420" name="Google Shape;420;p33"/>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424"/>
        <p:cNvGrpSpPr/>
        <p:nvPr/>
      </p:nvGrpSpPr>
      <p:grpSpPr>
        <a:xfrm>
          <a:off x="0" y="0"/>
          <a:ext cx="0" cy="0"/>
          <a:chOff x="0" y="0"/>
          <a:chExt cx="0" cy="0"/>
        </a:xfrm>
      </p:grpSpPr>
      <p:pic>
        <p:nvPicPr>
          <p:cNvPr id="425" name="Google Shape;425;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26" name="Google Shape;426;p34" descr="image.png"/>
          <p:cNvPicPr preferRelativeResize="0"/>
          <p:nvPr/>
        </p:nvPicPr>
        <p:blipFill rotWithShape="1">
          <a:blip r:embed="rId4">
            <a:alphaModFix/>
          </a:blip>
          <a:srcRect/>
          <a:stretch/>
        </p:blipFill>
        <p:spPr>
          <a:xfrm>
            <a:off x="1412527" y="2416373"/>
            <a:ext cx="2667000" cy="2667000"/>
          </a:xfrm>
          <a:prstGeom prst="rect">
            <a:avLst/>
          </a:prstGeom>
          <a:noFill/>
          <a:ln>
            <a:noFill/>
          </a:ln>
        </p:spPr>
      </p:pic>
      <p:pic>
        <p:nvPicPr>
          <p:cNvPr id="427" name="Google Shape;427;p34" descr="image.png"/>
          <p:cNvPicPr preferRelativeResize="0"/>
          <p:nvPr/>
        </p:nvPicPr>
        <p:blipFill rotWithShape="1">
          <a:blip r:embed="rId5">
            <a:alphaModFix/>
          </a:blip>
          <a:srcRect/>
          <a:stretch/>
        </p:blipFill>
        <p:spPr>
          <a:xfrm>
            <a:off x="771525" y="6381750"/>
            <a:ext cx="10648950" cy="228600"/>
          </a:xfrm>
          <a:prstGeom prst="rect">
            <a:avLst/>
          </a:prstGeom>
          <a:noFill/>
          <a:ln>
            <a:noFill/>
          </a:ln>
        </p:spPr>
      </p:pic>
      <p:sp>
        <p:nvSpPr>
          <p:cNvPr id="428" name="Google Shape;428;p34"/>
          <p:cNvSpPr txBox="1"/>
          <p:nvPr/>
        </p:nvSpPr>
        <p:spPr>
          <a:xfrm>
            <a:off x="771525" y="6486525"/>
            <a:ext cx="6286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22 / 25</a:t>
            </a:r>
            <a:endParaRPr/>
          </a:p>
        </p:txBody>
      </p:sp>
      <p:sp>
        <p:nvSpPr>
          <p:cNvPr id="429" name="Google Shape;429;p34"/>
          <p:cNvSpPr txBox="1"/>
          <p:nvPr/>
        </p:nvSpPr>
        <p:spPr>
          <a:xfrm>
            <a:off x="10601325" y="6486525"/>
            <a:ext cx="8191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Cognitive Triage</a:t>
            </a:r>
            <a:endParaRPr/>
          </a:p>
        </p:txBody>
      </p:sp>
      <p:sp>
        <p:nvSpPr>
          <p:cNvPr id="430" name="Google Shape;430;p34"/>
          <p:cNvSpPr txBox="1"/>
          <p:nvPr/>
        </p:nvSpPr>
        <p:spPr>
          <a:xfrm>
            <a:off x="5101679" y="3209925"/>
            <a:ext cx="6634735"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38BDF8"/>
                </a:solidFill>
                <a:latin typeface="Space Grotesk"/>
                <a:ea typeface="Space Grotesk"/>
                <a:cs typeface="Space Grotesk"/>
                <a:sym typeface="Space Grotesk"/>
              </a:rPr>
              <a:t>Virtual Tier-1 Agent</a:t>
            </a:r>
            <a:endParaRPr/>
          </a:p>
        </p:txBody>
      </p:sp>
      <p:sp>
        <p:nvSpPr>
          <p:cNvPr id="431" name="Google Shape;431;p34"/>
          <p:cNvSpPr txBox="1"/>
          <p:nvPr/>
        </p:nvSpPr>
        <p:spPr>
          <a:xfrm>
            <a:off x="5101679" y="3429000"/>
            <a:ext cx="6318795"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D1D5DB"/>
                </a:solidFill>
                <a:latin typeface="Plus Jakarta Sans"/>
                <a:ea typeface="Plus Jakarta Sans"/>
                <a:cs typeface="Plus Jakarta Sans"/>
                <a:sym typeface="Plus Jakarta Sans"/>
              </a:rPr>
              <a:t>We integrate Google Gemini directly into the n8n logic flow. Gemini acts as an autonomous tier-1 analyst, processing unstructured logs into simple, actionable summaries.</a:t>
            </a:r>
            <a:endParaRPr/>
          </a:p>
        </p:txBody>
      </p:sp>
      <p:sp>
        <p:nvSpPr>
          <p:cNvPr id="432" name="Google Shape;432;p34"/>
          <p:cNvSpPr txBox="1"/>
          <p:nvPr/>
        </p:nvSpPr>
        <p:spPr>
          <a:xfrm>
            <a:off x="5101679" y="3943350"/>
            <a:ext cx="6318795" cy="346471"/>
          </a:xfrm>
          <a:prstGeom prst="rect">
            <a:avLst/>
          </a:prstGeom>
          <a:noFill/>
          <a:ln>
            <a:noFill/>
          </a:ln>
        </p:spPr>
        <p:txBody>
          <a:bodyPr spcFirstLastPara="1" wrap="square" lIns="0" tIns="0" rIns="0" bIns="0" anchor="t" anchorCtr="0">
            <a:spAutoFit/>
          </a:bodyPr>
          <a:lstStyle/>
          <a:p>
            <a:pPr marL="0" marR="0" lvl="0" indent="0" algn="l" rtl="0">
              <a:lnSpc>
                <a:spcPct val="139897"/>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Gemini analyzes the threat vector, ranks the risk level, and generates precise containment code blocks (such as firewall block commands or PowerShell shutdown scripts) inside Slack alert channels.</a:t>
            </a:r>
            <a:endParaRPr/>
          </a:p>
        </p:txBody>
      </p:sp>
      <p:pic>
        <p:nvPicPr>
          <p:cNvPr id="433" name="Google Shape;433;p34" descr="image.png"/>
          <p:cNvPicPr preferRelativeResize="0"/>
          <p:nvPr/>
        </p:nvPicPr>
        <p:blipFill rotWithShape="1">
          <a:blip r:embed="rId6">
            <a:alphaModFix/>
          </a:blip>
          <a:srcRect/>
          <a:stretch/>
        </p:blipFill>
        <p:spPr>
          <a:xfrm>
            <a:off x="1450627" y="2454473"/>
            <a:ext cx="2590800" cy="2590800"/>
          </a:xfrm>
          <a:prstGeom prst="rect">
            <a:avLst/>
          </a:prstGeom>
          <a:noFill/>
          <a:ln>
            <a:noFill/>
          </a:ln>
        </p:spPr>
      </p:pic>
      <p:sp>
        <p:nvSpPr>
          <p:cNvPr id="434" name="Google Shape;434;p34"/>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AI Analyst Integration</a:t>
            </a:r>
            <a:endParaRPr/>
          </a:p>
        </p:txBody>
      </p:sp>
      <p:sp>
        <p:nvSpPr>
          <p:cNvPr id="435" name="Google Shape;435;p34"/>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439"/>
        <p:cNvGrpSpPr/>
        <p:nvPr/>
      </p:nvGrpSpPr>
      <p:grpSpPr>
        <a:xfrm>
          <a:off x="0" y="0"/>
          <a:ext cx="0" cy="0"/>
          <a:chOff x="0" y="0"/>
          <a:chExt cx="0" cy="0"/>
        </a:xfrm>
      </p:grpSpPr>
      <p:pic>
        <p:nvPicPr>
          <p:cNvPr id="440" name="Google Shape;440;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41" name="Google Shape;441;p35"/>
          <p:cNvSpPr txBox="1"/>
          <p:nvPr/>
        </p:nvSpPr>
        <p:spPr>
          <a:xfrm>
            <a:off x="4792715" y="3052762"/>
            <a:ext cx="2606419" cy="628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FFFFFF"/>
                </a:solidFill>
                <a:latin typeface="Space Grotesk"/>
                <a:ea typeface="Space Grotesk"/>
                <a:cs typeface="Space Grotesk"/>
                <a:sym typeface="Space Grotesk"/>
              </a:rPr>
              <a:t>Section 05</a:t>
            </a:r>
            <a:endParaRPr/>
          </a:p>
        </p:txBody>
      </p:sp>
      <p:sp>
        <p:nvSpPr>
          <p:cNvPr id="442" name="Google Shape;442;p35"/>
          <p:cNvSpPr txBox="1"/>
          <p:nvPr/>
        </p:nvSpPr>
        <p:spPr>
          <a:xfrm>
            <a:off x="4267200" y="3824287"/>
            <a:ext cx="365760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CA3AF"/>
                </a:solidFill>
                <a:latin typeface="Plus Jakarta Sans"/>
                <a:ea typeface="Plus Jakarta Sans"/>
                <a:cs typeface="Plus Jakarta Sans"/>
                <a:sym typeface="Plus Jakarta Sans"/>
              </a:rPr>
              <a:t>Technical Challenges, Validation &amp; Conclusion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446"/>
        <p:cNvGrpSpPr/>
        <p:nvPr/>
      </p:nvGrpSpPr>
      <p:grpSpPr>
        <a:xfrm>
          <a:off x="0" y="0"/>
          <a:ext cx="0" cy="0"/>
          <a:chOff x="0" y="0"/>
          <a:chExt cx="0" cy="0"/>
        </a:xfrm>
      </p:grpSpPr>
      <p:pic>
        <p:nvPicPr>
          <p:cNvPr id="447" name="Google Shape;447;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48" name="Google Shape;448;p36" descr="image.png"/>
          <p:cNvPicPr preferRelativeResize="0"/>
          <p:nvPr/>
        </p:nvPicPr>
        <p:blipFill rotWithShape="1">
          <a:blip r:embed="rId4">
            <a:alphaModFix/>
          </a:blip>
          <a:srcRect/>
          <a:stretch/>
        </p:blipFill>
        <p:spPr>
          <a:xfrm>
            <a:off x="771525" y="2654498"/>
            <a:ext cx="3422600" cy="2190750"/>
          </a:xfrm>
          <a:prstGeom prst="rect">
            <a:avLst/>
          </a:prstGeom>
          <a:noFill/>
          <a:ln>
            <a:noFill/>
          </a:ln>
        </p:spPr>
      </p:pic>
      <p:pic>
        <p:nvPicPr>
          <p:cNvPr id="449" name="Google Shape;449;p36" descr="image.png"/>
          <p:cNvPicPr preferRelativeResize="0"/>
          <p:nvPr/>
        </p:nvPicPr>
        <p:blipFill rotWithShape="1">
          <a:blip r:embed="rId4">
            <a:alphaModFix/>
          </a:blip>
          <a:srcRect/>
          <a:stretch/>
        </p:blipFill>
        <p:spPr>
          <a:xfrm>
            <a:off x="4384625" y="2654498"/>
            <a:ext cx="3422600" cy="2190750"/>
          </a:xfrm>
          <a:prstGeom prst="rect">
            <a:avLst/>
          </a:prstGeom>
          <a:noFill/>
          <a:ln>
            <a:noFill/>
          </a:ln>
        </p:spPr>
      </p:pic>
      <p:pic>
        <p:nvPicPr>
          <p:cNvPr id="450" name="Google Shape;450;p36" descr="image.png"/>
          <p:cNvPicPr preferRelativeResize="0"/>
          <p:nvPr/>
        </p:nvPicPr>
        <p:blipFill rotWithShape="1">
          <a:blip r:embed="rId5">
            <a:alphaModFix/>
          </a:blip>
          <a:srcRect/>
          <a:stretch/>
        </p:blipFill>
        <p:spPr>
          <a:xfrm>
            <a:off x="7997725" y="2654498"/>
            <a:ext cx="3422600" cy="2190750"/>
          </a:xfrm>
          <a:prstGeom prst="rect">
            <a:avLst/>
          </a:prstGeom>
          <a:noFill/>
          <a:ln>
            <a:noFill/>
          </a:ln>
        </p:spPr>
      </p:pic>
      <p:pic>
        <p:nvPicPr>
          <p:cNvPr id="451" name="Google Shape;451;p36"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452" name="Google Shape;452;p36"/>
          <p:cNvSpPr txBox="1"/>
          <p:nvPr/>
        </p:nvSpPr>
        <p:spPr>
          <a:xfrm>
            <a:off x="771525" y="6486525"/>
            <a:ext cx="6286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24 / 25</a:t>
            </a:r>
            <a:endParaRPr/>
          </a:p>
        </p:txBody>
      </p:sp>
      <p:sp>
        <p:nvSpPr>
          <p:cNvPr id="453" name="Google Shape;453;p36"/>
          <p:cNvSpPr txBox="1"/>
          <p:nvPr/>
        </p:nvSpPr>
        <p:spPr>
          <a:xfrm>
            <a:off x="10458450" y="6486525"/>
            <a:ext cx="96202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Hurdles Addressed</a:t>
            </a:r>
            <a:endParaRPr/>
          </a:p>
        </p:txBody>
      </p:sp>
      <p:sp>
        <p:nvSpPr>
          <p:cNvPr id="454" name="Google Shape;454;p36"/>
          <p:cNvSpPr txBox="1"/>
          <p:nvPr/>
        </p:nvSpPr>
        <p:spPr>
          <a:xfrm>
            <a:off x="971550" y="3368873"/>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SIEM-to-SOAR Latency</a:t>
            </a:r>
            <a:endParaRPr/>
          </a:p>
        </p:txBody>
      </p:sp>
      <p:sp>
        <p:nvSpPr>
          <p:cNvPr id="455" name="Google Shape;455;p36"/>
          <p:cNvSpPr txBox="1"/>
          <p:nvPr/>
        </p:nvSpPr>
        <p:spPr>
          <a:xfrm>
            <a:off x="971550" y="3664148"/>
            <a:ext cx="30225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FFFFFF"/>
                </a:solidFill>
                <a:latin typeface="Plus Jakarta Sans"/>
                <a:ea typeface="Plus Jakarta Sans"/>
                <a:cs typeface="Plus Jakarta Sans"/>
                <a:sym typeface="Plus Jakarta Sans"/>
              </a:rPr>
              <a:t>Challenge:</a:t>
            </a:r>
            <a:endParaRPr/>
          </a:p>
        </p:txBody>
      </p:sp>
      <p:sp>
        <p:nvSpPr>
          <p:cNvPr id="456" name="Google Shape;456;p36"/>
          <p:cNvSpPr txBox="1"/>
          <p:nvPr/>
        </p:nvSpPr>
        <p:spPr>
          <a:xfrm>
            <a:off x="971550" y="3864173"/>
            <a:ext cx="3022550" cy="742950"/>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Standard Splunk alerts query databases on fixed schedules, introducing response delays. Resolved by implementing HTTP POST alerts directly inside search routines.</a:t>
            </a:r>
            <a:endParaRPr/>
          </a:p>
        </p:txBody>
      </p:sp>
      <p:sp>
        <p:nvSpPr>
          <p:cNvPr id="457" name="Google Shape;457;p36"/>
          <p:cNvSpPr txBox="1"/>
          <p:nvPr/>
        </p:nvSpPr>
        <p:spPr>
          <a:xfrm>
            <a:off x="4584650" y="3368873"/>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Nested JSON Formats</a:t>
            </a:r>
            <a:endParaRPr/>
          </a:p>
        </p:txBody>
      </p:sp>
      <p:sp>
        <p:nvSpPr>
          <p:cNvPr id="458" name="Google Shape;458;p36"/>
          <p:cNvSpPr txBox="1"/>
          <p:nvPr/>
        </p:nvSpPr>
        <p:spPr>
          <a:xfrm>
            <a:off x="4584650" y="3664148"/>
            <a:ext cx="30225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FFFFFF"/>
                </a:solidFill>
                <a:latin typeface="Plus Jakarta Sans"/>
                <a:ea typeface="Plus Jakarta Sans"/>
                <a:cs typeface="Plus Jakarta Sans"/>
                <a:sym typeface="Plus Jakarta Sans"/>
              </a:rPr>
              <a:t>Challenge:</a:t>
            </a:r>
            <a:endParaRPr/>
          </a:p>
        </p:txBody>
      </p:sp>
      <p:sp>
        <p:nvSpPr>
          <p:cNvPr id="459" name="Google Shape;459;p36"/>
          <p:cNvSpPr txBox="1"/>
          <p:nvPr/>
        </p:nvSpPr>
        <p:spPr>
          <a:xfrm>
            <a:off x="4584650" y="3864173"/>
            <a:ext cx="3022550" cy="742950"/>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Sysmon generates deeply nested, verbose event objects. Resolved by deploying Javascript pre-processors inside n8n node structures to normalize the data.</a:t>
            </a:r>
            <a:endParaRPr/>
          </a:p>
        </p:txBody>
      </p:sp>
      <p:sp>
        <p:nvSpPr>
          <p:cNvPr id="460" name="Google Shape;460;p36"/>
          <p:cNvSpPr txBox="1"/>
          <p:nvPr/>
        </p:nvSpPr>
        <p:spPr>
          <a:xfrm>
            <a:off x="8197750" y="3368873"/>
            <a:ext cx="3173677"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Space Grotesk"/>
                <a:ea typeface="Space Grotesk"/>
                <a:cs typeface="Space Grotesk"/>
                <a:sym typeface="Space Grotesk"/>
              </a:rPr>
              <a:t>API Key Limits</a:t>
            </a:r>
            <a:endParaRPr/>
          </a:p>
        </p:txBody>
      </p:sp>
      <p:sp>
        <p:nvSpPr>
          <p:cNvPr id="461" name="Google Shape;461;p36"/>
          <p:cNvSpPr txBox="1"/>
          <p:nvPr/>
        </p:nvSpPr>
        <p:spPr>
          <a:xfrm>
            <a:off x="8197750" y="3664148"/>
            <a:ext cx="302255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FFFFFF"/>
                </a:solidFill>
                <a:latin typeface="Plus Jakarta Sans"/>
                <a:ea typeface="Plus Jakarta Sans"/>
                <a:cs typeface="Plus Jakarta Sans"/>
                <a:sym typeface="Plus Jakarta Sans"/>
              </a:rPr>
              <a:t>Challenge:</a:t>
            </a:r>
            <a:endParaRPr/>
          </a:p>
        </p:txBody>
      </p:sp>
      <p:sp>
        <p:nvSpPr>
          <p:cNvPr id="462" name="Google Shape;462;p36"/>
          <p:cNvSpPr txBox="1"/>
          <p:nvPr/>
        </p:nvSpPr>
        <p:spPr>
          <a:xfrm>
            <a:off x="8197750" y="3864173"/>
            <a:ext cx="3022550" cy="742950"/>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Free threat intelligence APIs limit query volumes. Resolved by implementing a local cache database within the n8n pipeline to prevent duplicate scanning on known secure assets.</a:t>
            </a:r>
            <a:endParaRPr/>
          </a:p>
        </p:txBody>
      </p:sp>
      <p:pic>
        <p:nvPicPr>
          <p:cNvPr id="463" name="Google Shape;463;p36" descr="image.png"/>
          <p:cNvPicPr preferRelativeResize="0"/>
          <p:nvPr/>
        </p:nvPicPr>
        <p:blipFill rotWithShape="1">
          <a:blip r:embed="rId7">
            <a:alphaModFix/>
          </a:blip>
          <a:srcRect/>
          <a:stretch/>
        </p:blipFill>
        <p:spPr>
          <a:xfrm>
            <a:off x="971550" y="2940248"/>
            <a:ext cx="266700" cy="266700"/>
          </a:xfrm>
          <a:prstGeom prst="rect">
            <a:avLst/>
          </a:prstGeom>
          <a:noFill/>
          <a:ln>
            <a:noFill/>
          </a:ln>
        </p:spPr>
      </p:pic>
      <p:pic>
        <p:nvPicPr>
          <p:cNvPr id="464" name="Google Shape;464;p36" descr="image.png"/>
          <p:cNvPicPr preferRelativeResize="0"/>
          <p:nvPr/>
        </p:nvPicPr>
        <p:blipFill rotWithShape="1">
          <a:blip r:embed="rId8">
            <a:alphaModFix/>
          </a:blip>
          <a:srcRect/>
          <a:stretch/>
        </p:blipFill>
        <p:spPr>
          <a:xfrm>
            <a:off x="4584650" y="2940248"/>
            <a:ext cx="333375" cy="266700"/>
          </a:xfrm>
          <a:prstGeom prst="rect">
            <a:avLst/>
          </a:prstGeom>
          <a:noFill/>
          <a:ln>
            <a:noFill/>
          </a:ln>
        </p:spPr>
      </p:pic>
      <p:pic>
        <p:nvPicPr>
          <p:cNvPr id="465" name="Google Shape;465;p36" descr="image.png"/>
          <p:cNvPicPr preferRelativeResize="0"/>
          <p:nvPr/>
        </p:nvPicPr>
        <p:blipFill rotWithShape="1">
          <a:blip r:embed="rId9">
            <a:alphaModFix/>
          </a:blip>
          <a:srcRect/>
          <a:stretch/>
        </p:blipFill>
        <p:spPr>
          <a:xfrm>
            <a:off x="8197750" y="2940248"/>
            <a:ext cx="266700" cy="266700"/>
          </a:xfrm>
          <a:prstGeom prst="rect">
            <a:avLst/>
          </a:prstGeom>
          <a:noFill/>
          <a:ln>
            <a:noFill/>
          </a:ln>
        </p:spPr>
      </p:pic>
      <p:sp>
        <p:nvSpPr>
          <p:cNvPr id="466" name="Google Shape;466;p36"/>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Engineering Challenges Solved</a:t>
            </a:r>
            <a:endParaRPr/>
          </a:p>
        </p:txBody>
      </p:sp>
      <p:sp>
        <p:nvSpPr>
          <p:cNvPr id="467" name="Google Shape;467;p36"/>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471"/>
        <p:cNvGrpSpPr/>
        <p:nvPr/>
      </p:nvGrpSpPr>
      <p:grpSpPr>
        <a:xfrm>
          <a:off x="0" y="0"/>
          <a:ext cx="0" cy="0"/>
          <a:chOff x="0" y="0"/>
          <a:chExt cx="0" cy="0"/>
        </a:xfrm>
      </p:grpSpPr>
      <p:pic>
        <p:nvPicPr>
          <p:cNvPr id="472" name="Google Shape;472;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73" name="Google Shape;473;p37" descr="image.png"/>
          <p:cNvPicPr preferRelativeResize="0"/>
          <p:nvPr/>
        </p:nvPicPr>
        <p:blipFill rotWithShape="1">
          <a:blip r:embed="rId4">
            <a:alphaModFix/>
          </a:blip>
          <a:srcRect/>
          <a:stretch/>
        </p:blipFill>
        <p:spPr>
          <a:xfrm>
            <a:off x="5008364" y="2043112"/>
            <a:ext cx="2175123" cy="323850"/>
          </a:xfrm>
          <a:prstGeom prst="rect">
            <a:avLst/>
          </a:prstGeom>
          <a:noFill/>
          <a:ln>
            <a:noFill/>
          </a:ln>
        </p:spPr>
      </p:pic>
      <p:pic>
        <p:nvPicPr>
          <p:cNvPr id="474" name="Google Shape;474;p37" descr="image.png"/>
          <p:cNvPicPr preferRelativeResize="0"/>
          <p:nvPr/>
        </p:nvPicPr>
        <p:blipFill rotWithShape="1">
          <a:blip r:embed="rId5">
            <a:alphaModFix/>
          </a:blip>
          <a:srcRect/>
          <a:stretch/>
        </p:blipFill>
        <p:spPr>
          <a:xfrm>
            <a:off x="2757487" y="4462462"/>
            <a:ext cx="6677025" cy="352425"/>
          </a:xfrm>
          <a:prstGeom prst="rect">
            <a:avLst/>
          </a:prstGeom>
          <a:noFill/>
          <a:ln>
            <a:noFill/>
          </a:ln>
        </p:spPr>
      </p:pic>
      <p:pic>
        <p:nvPicPr>
          <p:cNvPr id="475" name="Google Shape;475;p37" descr="image.png"/>
          <p:cNvPicPr preferRelativeResize="0"/>
          <p:nvPr/>
        </p:nvPicPr>
        <p:blipFill rotWithShape="1">
          <a:blip r:embed="rId6">
            <a:alphaModFix/>
          </a:blip>
          <a:srcRect/>
          <a:stretch/>
        </p:blipFill>
        <p:spPr>
          <a:xfrm>
            <a:off x="771525" y="6381750"/>
            <a:ext cx="10648950" cy="228600"/>
          </a:xfrm>
          <a:prstGeom prst="rect">
            <a:avLst/>
          </a:prstGeom>
          <a:noFill/>
          <a:ln>
            <a:noFill/>
          </a:ln>
        </p:spPr>
      </p:pic>
      <p:sp>
        <p:nvSpPr>
          <p:cNvPr id="476" name="Google Shape;476;p37"/>
          <p:cNvSpPr txBox="1"/>
          <p:nvPr/>
        </p:nvSpPr>
        <p:spPr>
          <a:xfrm>
            <a:off x="3054369" y="2509837"/>
            <a:ext cx="6083260" cy="5524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a:solidFill>
                  <a:srgbClr val="38BDF8"/>
                </a:solidFill>
                <a:latin typeface="Space Grotesk"/>
                <a:ea typeface="Space Grotesk"/>
                <a:cs typeface="Space Grotesk"/>
                <a:sym typeface="Space Grotesk"/>
              </a:rPr>
              <a:t>Thank You for Your Attention</a:t>
            </a:r>
            <a:endParaRPr/>
          </a:p>
        </p:txBody>
      </p:sp>
      <p:sp>
        <p:nvSpPr>
          <p:cNvPr id="477" name="Google Shape;477;p37"/>
          <p:cNvSpPr txBox="1"/>
          <p:nvPr/>
        </p:nvSpPr>
        <p:spPr>
          <a:xfrm>
            <a:off x="2524125" y="3319462"/>
            <a:ext cx="7143750" cy="692497"/>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dirty="0">
                <a:solidFill>
                  <a:srgbClr val="9CA3AF"/>
                </a:solidFill>
                <a:latin typeface="Plus Jakarta Sans"/>
                <a:ea typeface="Plus Jakarta Sans"/>
                <a:cs typeface="Plus Jakarta Sans"/>
                <a:sym typeface="Plus Jakarta Sans"/>
              </a:rPr>
              <a:t>The SSOCIETY platform demonstrates how cognitive automation reduces security response times from hours to milliseconds. Open to your questions.</a:t>
            </a:r>
            <a:endParaRPr dirty="0"/>
          </a:p>
        </p:txBody>
      </p:sp>
      <p:sp>
        <p:nvSpPr>
          <p:cNvPr id="478" name="Google Shape;478;p37"/>
          <p:cNvSpPr txBox="1"/>
          <p:nvPr/>
        </p:nvSpPr>
        <p:spPr>
          <a:xfrm>
            <a:off x="771525" y="6486525"/>
            <a:ext cx="628650"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4B5563"/>
                </a:solidFill>
                <a:latin typeface="Plus Jakarta Sans"/>
                <a:ea typeface="Plus Jakarta Sans"/>
                <a:cs typeface="Plus Jakarta Sans"/>
                <a:sym typeface="Plus Jakarta Sans"/>
              </a:rPr>
              <a:t>Slide 25 / 25</a:t>
            </a:r>
            <a:endParaRPr/>
          </a:p>
        </p:txBody>
      </p:sp>
      <p:sp>
        <p:nvSpPr>
          <p:cNvPr id="479" name="Google Shape;479;p37"/>
          <p:cNvSpPr txBox="1"/>
          <p:nvPr/>
        </p:nvSpPr>
        <p:spPr>
          <a:xfrm>
            <a:off x="9982200" y="6486525"/>
            <a:ext cx="1438275" cy="123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dirty="0">
                <a:solidFill>
                  <a:srgbClr val="4B5563"/>
                </a:solidFill>
                <a:latin typeface="Plus Jakarta Sans"/>
                <a:ea typeface="Plus Jakarta Sans"/>
                <a:cs typeface="Plus Jakarta Sans"/>
                <a:sym typeface="Plus Jakarta Sans"/>
              </a:rPr>
              <a:t>SSOCITY Final Defense Slide</a:t>
            </a:r>
            <a:endParaRPr dirty="0"/>
          </a:p>
        </p:txBody>
      </p:sp>
      <p:pic>
        <p:nvPicPr>
          <p:cNvPr id="480" name="Google Shape;480;p37" descr="image.png"/>
          <p:cNvPicPr preferRelativeResize="0"/>
          <p:nvPr/>
        </p:nvPicPr>
        <p:blipFill rotWithShape="1">
          <a:blip r:embed="rId7">
            <a:alphaModFix/>
          </a:blip>
          <a:srcRect/>
          <a:stretch/>
        </p:blipFill>
        <p:spPr>
          <a:xfrm>
            <a:off x="5189339" y="2143125"/>
            <a:ext cx="158650" cy="123825"/>
          </a:xfrm>
          <a:prstGeom prst="rect">
            <a:avLst/>
          </a:prstGeom>
          <a:noFill/>
          <a:ln>
            <a:noFill/>
          </a:ln>
        </p:spPr>
      </p:pic>
      <p:sp>
        <p:nvSpPr>
          <p:cNvPr id="481" name="Google Shape;481;p37"/>
          <p:cNvSpPr txBox="1"/>
          <p:nvPr/>
        </p:nvSpPr>
        <p:spPr>
          <a:xfrm>
            <a:off x="2757487" y="4662487"/>
            <a:ext cx="3562350"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1" i="0" u="none" strike="noStrike" cap="none">
                <a:solidFill>
                  <a:srgbClr val="9CA3AF"/>
                </a:solidFill>
                <a:latin typeface="Plus Jakarta Sans"/>
                <a:ea typeface="Plus Jakarta Sans"/>
                <a:cs typeface="Plus Jakarta Sans"/>
                <a:sym typeface="Plus Jakarta Sans"/>
              </a:rPr>
              <a:t>Location:</a:t>
            </a:r>
            <a:r>
              <a:rPr lang="en-US" sz="975" b="0" i="0" u="none" strike="noStrike" cap="none">
                <a:solidFill>
                  <a:srgbClr val="9CA3AF"/>
                </a:solidFill>
                <a:latin typeface="Plus Jakarta Sans"/>
                <a:ea typeface="Plus Jakarta Sans"/>
                <a:cs typeface="Plus Jakarta Sans"/>
                <a:sym typeface="Plus Jakarta Sans"/>
              </a:rPr>
              <a:t> Helwan International Technological University (HITU)</a:t>
            </a:r>
            <a:endParaRPr/>
          </a:p>
        </p:txBody>
      </p:sp>
      <p:sp>
        <p:nvSpPr>
          <p:cNvPr id="482" name="Google Shape;482;p37"/>
          <p:cNvSpPr txBox="1"/>
          <p:nvPr/>
        </p:nvSpPr>
        <p:spPr>
          <a:xfrm>
            <a:off x="6557962" y="4662487"/>
            <a:ext cx="38100"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0" i="0" u="none" strike="noStrike" cap="none">
                <a:solidFill>
                  <a:srgbClr val="9CA3AF"/>
                </a:solidFill>
                <a:latin typeface="Plus Jakarta Sans"/>
                <a:ea typeface="Plus Jakarta Sans"/>
                <a:cs typeface="Plus Jakarta Sans"/>
                <a:sym typeface="Plus Jakarta Sans"/>
              </a:rPr>
              <a:t>|</a:t>
            </a:r>
            <a:endParaRPr/>
          </a:p>
        </p:txBody>
      </p:sp>
      <p:sp>
        <p:nvSpPr>
          <p:cNvPr id="483" name="Google Shape;483;p37"/>
          <p:cNvSpPr txBox="1"/>
          <p:nvPr/>
        </p:nvSpPr>
        <p:spPr>
          <a:xfrm>
            <a:off x="6834187" y="4662487"/>
            <a:ext cx="2600325"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1" i="0" u="none" strike="noStrike" cap="none">
                <a:solidFill>
                  <a:srgbClr val="9CA3AF"/>
                </a:solidFill>
                <a:latin typeface="Plus Jakarta Sans"/>
                <a:ea typeface="Plus Jakarta Sans"/>
                <a:cs typeface="Plus Jakarta Sans"/>
                <a:sym typeface="Plus Jakarta Sans"/>
              </a:rPr>
              <a:t>Tech Stack:</a:t>
            </a:r>
            <a:r>
              <a:rPr lang="en-US" sz="975" b="0" i="0" u="none" strike="noStrike" cap="none">
                <a:solidFill>
                  <a:srgbClr val="9CA3AF"/>
                </a:solidFill>
                <a:latin typeface="Plus Jakarta Sans"/>
                <a:ea typeface="Plus Jakarta Sans"/>
                <a:cs typeface="Plus Jakarta Sans"/>
                <a:sym typeface="Plus Jakarta Sans"/>
              </a:rPr>
              <a:t> Splunk, n8n, VirusTotal, Gemini AI</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0F19"/>
        </a:solidFill>
        <a:effectLst/>
      </p:bgPr>
    </p:bg>
    <p:spTree>
      <p:nvGrpSpPr>
        <p:cNvPr id="1" name="Shape 487"/>
        <p:cNvGrpSpPr/>
        <p:nvPr/>
      </p:nvGrpSpPr>
      <p:grpSpPr>
        <a:xfrm>
          <a:off x="0" y="0"/>
          <a:ext cx="0" cy="0"/>
          <a:chOff x="0" y="0"/>
          <a:chExt cx="0" cy="0"/>
        </a:xfrm>
      </p:grpSpPr>
      <p:pic>
        <p:nvPicPr>
          <p:cNvPr id="488" name="Google Shape;488;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89" name="Google Shape;489;p38"/>
          <p:cNvSpPr/>
          <p:nvPr/>
        </p:nvSpPr>
        <p:spPr>
          <a:xfrm>
            <a:off x="771525" y="2425898"/>
            <a:ext cx="10648950" cy="7715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0" name="Google Shape;490;p38"/>
          <p:cNvSpPr/>
          <p:nvPr/>
        </p:nvSpPr>
        <p:spPr>
          <a:xfrm>
            <a:off x="771525" y="3197423"/>
            <a:ext cx="10648950" cy="9429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91" name="Google Shape;491;p38" descr="image.png"/>
          <p:cNvPicPr preferRelativeResize="0"/>
          <p:nvPr/>
        </p:nvPicPr>
        <p:blipFill rotWithShape="1">
          <a:blip r:embed="rId4">
            <a:alphaModFix/>
          </a:blip>
          <a:srcRect/>
          <a:stretch/>
        </p:blipFill>
        <p:spPr>
          <a:xfrm>
            <a:off x="771525" y="2444948"/>
            <a:ext cx="111174" cy="161925"/>
          </a:xfrm>
          <a:prstGeom prst="rect">
            <a:avLst/>
          </a:prstGeom>
          <a:noFill/>
          <a:ln>
            <a:noFill/>
          </a:ln>
        </p:spPr>
      </p:pic>
      <p:sp>
        <p:nvSpPr>
          <p:cNvPr id="492" name="Google Shape;492;p38"/>
          <p:cNvSpPr/>
          <p:nvPr/>
        </p:nvSpPr>
        <p:spPr>
          <a:xfrm>
            <a:off x="771525" y="3187898"/>
            <a:ext cx="106489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3" name="Google Shape;493;p38"/>
          <p:cNvSpPr/>
          <p:nvPr/>
        </p:nvSpPr>
        <p:spPr>
          <a:xfrm>
            <a:off x="771525" y="3187898"/>
            <a:ext cx="106489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94" name="Google Shape;494;p38" descr="image.png"/>
          <p:cNvPicPr preferRelativeResize="0"/>
          <p:nvPr/>
        </p:nvPicPr>
        <p:blipFill rotWithShape="1">
          <a:blip r:embed="rId4">
            <a:alphaModFix/>
          </a:blip>
          <a:srcRect/>
          <a:stretch/>
        </p:blipFill>
        <p:spPr>
          <a:xfrm>
            <a:off x="771525" y="3216473"/>
            <a:ext cx="111174" cy="161925"/>
          </a:xfrm>
          <a:prstGeom prst="rect">
            <a:avLst/>
          </a:prstGeom>
          <a:noFill/>
          <a:ln>
            <a:noFill/>
          </a:ln>
        </p:spPr>
      </p:pic>
      <p:sp>
        <p:nvSpPr>
          <p:cNvPr id="495" name="Google Shape;495;p38"/>
          <p:cNvSpPr/>
          <p:nvPr/>
        </p:nvSpPr>
        <p:spPr>
          <a:xfrm>
            <a:off x="771525" y="4130873"/>
            <a:ext cx="106489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6" name="Google Shape;496;p38"/>
          <p:cNvSpPr/>
          <p:nvPr/>
        </p:nvSpPr>
        <p:spPr>
          <a:xfrm>
            <a:off x="771525" y="4130873"/>
            <a:ext cx="10648950" cy="9525"/>
          </a:xfrm>
          <a:prstGeom prst="rect">
            <a:avLst/>
          </a:prstGeom>
          <a:solidFill>
            <a:srgbClr val="75757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97" name="Google Shape;497;p38" descr="image.png"/>
          <p:cNvPicPr preferRelativeResize="0"/>
          <p:nvPr/>
        </p:nvPicPr>
        <p:blipFill rotWithShape="1">
          <a:blip r:embed="rId4">
            <a:alphaModFix/>
          </a:blip>
          <a:srcRect/>
          <a:stretch/>
        </p:blipFill>
        <p:spPr>
          <a:xfrm>
            <a:off x="771525" y="4159448"/>
            <a:ext cx="111174" cy="161925"/>
          </a:xfrm>
          <a:prstGeom prst="rect">
            <a:avLst/>
          </a:prstGeom>
          <a:noFill/>
          <a:ln>
            <a:noFill/>
          </a:ln>
        </p:spPr>
      </p:pic>
      <p:pic>
        <p:nvPicPr>
          <p:cNvPr id="498" name="Google Shape;498;p38" descr="image.png"/>
          <p:cNvPicPr preferRelativeResize="0"/>
          <p:nvPr/>
        </p:nvPicPr>
        <p:blipFill rotWithShape="1">
          <a:blip r:embed="rId5">
            <a:alphaModFix/>
          </a:blip>
          <a:srcRect/>
          <a:stretch/>
        </p:blipFill>
        <p:spPr>
          <a:xfrm>
            <a:off x="771525" y="2568773"/>
            <a:ext cx="857250" cy="476250"/>
          </a:xfrm>
          <a:prstGeom prst="rect">
            <a:avLst/>
          </a:prstGeom>
          <a:noFill/>
          <a:ln>
            <a:noFill/>
          </a:ln>
        </p:spPr>
      </p:pic>
      <p:sp>
        <p:nvSpPr>
          <p:cNvPr id="499" name="Google Shape;499;p38"/>
          <p:cNvSpPr txBox="1"/>
          <p:nvPr/>
        </p:nvSpPr>
        <p:spPr>
          <a:xfrm>
            <a:off x="1866900" y="2575917"/>
            <a:ext cx="9553575" cy="185737"/>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https://static.vecteezy.com/system/resources/thumbnails/036/782/202/small/ai-generated-high-performance-ai-supercomputer-ai-generated-photo.jpg</a:t>
            </a:r>
            <a:endParaRPr/>
          </a:p>
        </p:txBody>
      </p:sp>
      <p:sp>
        <p:nvSpPr>
          <p:cNvPr id="500" name="Google Shape;500;p38"/>
          <p:cNvSpPr txBox="1"/>
          <p:nvPr/>
        </p:nvSpPr>
        <p:spPr>
          <a:xfrm>
            <a:off x="1866900" y="2809279"/>
            <a:ext cx="95535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D1D5DB"/>
                </a:solidFill>
                <a:latin typeface="Plus Jakarta Sans"/>
                <a:ea typeface="Plus Jakarta Sans"/>
                <a:cs typeface="Plus Jakarta Sans"/>
                <a:sym typeface="Plus Jakarta Sans"/>
              </a:rPr>
              <a:t>Source: </a:t>
            </a:r>
            <a:r>
              <a:rPr lang="en-US" sz="1200" b="0" i="0" u="none" strike="noStrike" cap="none">
                <a:solidFill>
                  <a:srgbClr val="4F46E5"/>
                </a:solidFill>
                <a:latin typeface="Plus Jakarta Sans"/>
                <a:ea typeface="Plus Jakarta Sans"/>
                <a:cs typeface="Plus Jakarta Sans"/>
                <a:sym typeface="Plus Jakarta Sans"/>
              </a:rPr>
              <a:t>www.vecteezy.com</a:t>
            </a:r>
            <a:endParaRPr/>
          </a:p>
        </p:txBody>
      </p:sp>
      <p:pic>
        <p:nvPicPr>
          <p:cNvPr id="501" name="Google Shape;501;p38" descr="image.png"/>
          <p:cNvPicPr preferRelativeResize="0"/>
          <p:nvPr/>
        </p:nvPicPr>
        <p:blipFill rotWithShape="1">
          <a:blip r:embed="rId6">
            <a:alphaModFix/>
          </a:blip>
          <a:srcRect/>
          <a:stretch/>
        </p:blipFill>
        <p:spPr>
          <a:xfrm>
            <a:off x="771525" y="3426023"/>
            <a:ext cx="857250" cy="476250"/>
          </a:xfrm>
          <a:prstGeom prst="rect">
            <a:avLst/>
          </a:prstGeom>
          <a:noFill/>
          <a:ln>
            <a:noFill/>
          </a:ln>
        </p:spPr>
      </p:pic>
      <p:sp>
        <p:nvSpPr>
          <p:cNvPr id="502" name="Google Shape;502;p38"/>
          <p:cNvSpPr txBox="1"/>
          <p:nvPr/>
        </p:nvSpPr>
        <p:spPr>
          <a:xfrm>
            <a:off x="1866900" y="3340298"/>
            <a:ext cx="9553575" cy="371475"/>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https://static.vecteezy.com/system/resources/thumbnails/077/018/596/small/3d-render-futuristic-data-stream-background-with-glowing-blue-digital-lines-abstract-technology-concept-for-network-cyber-security-big-data-communication-ideal-for-modern-backdropss-video.jpg</a:t>
            </a:r>
            <a:endParaRPr/>
          </a:p>
        </p:txBody>
      </p:sp>
      <p:sp>
        <p:nvSpPr>
          <p:cNvPr id="503" name="Google Shape;503;p38"/>
          <p:cNvSpPr txBox="1"/>
          <p:nvPr/>
        </p:nvSpPr>
        <p:spPr>
          <a:xfrm>
            <a:off x="1866900" y="3759398"/>
            <a:ext cx="95535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D1D5DB"/>
                </a:solidFill>
                <a:latin typeface="Plus Jakarta Sans"/>
                <a:ea typeface="Plus Jakarta Sans"/>
                <a:cs typeface="Plus Jakarta Sans"/>
                <a:sym typeface="Plus Jakarta Sans"/>
              </a:rPr>
              <a:t>Source: </a:t>
            </a:r>
            <a:r>
              <a:rPr lang="en-US" sz="1200" b="0" i="0" u="none" strike="noStrike" cap="none">
                <a:solidFill>
                  <a:srgbClr val="4F46E5"/>
                </a:solidFill>
                <a:latin typeface="Plus Jakarta Sans"/>
                <a:ea typeface="Plus Jakarta Sans"/>
                <a:cs typeface="Plus Jakarta Sans"/>
                <a:sym typeface="Plus Jakarta Sans"/>
              </a:rPr>
              <a:t>www.vecteezy.com</a:t>
            </a:r>
            <a:endParaRPr/>
          </a:p>
        </p:txBody>
      </p:sp>
      <p:pic>
        <p:nvPicPr>
          <p:cNvPr id="504" name="Google Shape;504;p38" descr="image.png"/>
          <p:cNvPicPr preferRelativeResize="0"/>
          <p:nvPr/>
        </p:nvPicPr>
        <p:blipFill rotWithShape="1">
          <a:blip r:embed="rId7">
            <a:alphaModFix/>
          </a:blip>
          <a:srcRect/>
          <a:stretch/>
        </p:blipFill>
        <p:spPr>
          <a:xfrm>
            <a:off x="771525" y="4368998"/>
            <a:ext cx="857250" cy="476250"/>
          </a:xfrm>
          <a:prstGeom prst="rect">
            <a:avLst/>
          </a:prstGeom>
          <a:noFill/>
          <a:ln>
            <a:noFill/>
          </a:ln>
        </p:spPr>
      </p:pic>
      <p:sp>
        <p:nvSpPr>
          <p:cNvPr id="505" name="Google Shape;505;p38"/>
          <p:cNvSpPr txBox="1"/>
          <p:nvPr/>
        </p:nvSpPr>
        <p:spPr>
          <a:xfrm>
            <a:off x="1866900" y="4283273"/>
            <a:ext cx="9553575" cy="371475"/>
          </a:xfrm>
          <a:prstGeom prst="rect">
            <a:avLst/>
          </a:prstGeom>
          <a:noFill/>
          <a:ln>
            <a:noFill/>
          </a:ln>
        </p:spPr>
        <p:txBody>
          <a:bodyPr spcFirstLastPara="1" wrap="square" lIns="0" tIns="0" rIns="0" bIns="0" anchor="t" anchorCtr="0">
            <a:spAutoFit/>
          </a:bodyPr>
          <a:lstStyle/>
          <a:p>
            <a:pPr marL="0" marR="0" lvl="0" indent="0" algn="l" rtl="0">
              <a:lnSpc>
                <a:spcPct val="149948"/>
              </a:lnSpc>
              <a:spcBef>
                <a:spcPts val="0"/>
              </a:spcBef>
              <a:spcAft>
                <a:spcPts val="0"/>
              </a:spcAft>
              <a:buNone/>
            </a:pPr>
            <a:r>
              <a:rPr lang="en-US" sz="975" b="0" i="0" u="none" strike="noStrike" cap="none">
                <a:solidFill>
                  <a:srgbClr val="D1D5DB"/>
                </a:solidFill>
                <a:latin typeface="Plus Jakarta Sans"/>
                <a:ea typeface="Plus Jakarta Sans"/>
                <a:cs typeface="Plus Jakarta Sans"/>
                <a:sym typeface="Plus Jakarta Sans"/>
              </a:rPr>
              <a:t>https://png.pngtree.com/thumb_back/fw800/background/20260120/pngtree-artificial-intelligence-cpu-processor-on-circuit-board-with-glowing-brain-digital-image_21148883.webp</a:t>
            </a:r>
            <a:endParaRPr/>
          </a:p>
        </p:txBody>
      </p:sp>
      <p:sp>
        <p:nvSpPr>
          <p:cNvPr id="506" name="Google Shape;506;p38"/>
          <p:cNvSpPr txBox="1"/>
          <p:nvPr/>
        </p:nvSpPr>
        <p:spPr>
          <a:xfrm>
            <a:off x="1866900" y="4702373"/>
            <a:ext cx="95535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D1D5DB"/>
                </a:solidFill>
                <a:latin typeface="Plus Jakarta Sans"/>
                <a:ea typeface="Plus Jakarta Sans"/>
                <a:cs typeface="Plus Jakarta Sans"/>
                <a:sym typeface="Plus Jakarta Sans"/>
              </a:rPr>
              <a:t>Source: </a:t>
            </a:r>
            <a:r>
              <a:rPr lang="en-US" sz="1200" b="0" i="0" u="none" strike="noStrike" cap="none">
                <a:solidFill>
                  <a:srgbClr val="4F46E5"/>
                </a:solidFill>
                <a:latin typeface="Plus Jakarta Sans"/>
                <a:ea typeface="Plus Jakarta Sans"/>
                <a:cs typeface="Plus Jakarta Sans"/>
                <a:sym typeface="Plus Jakarta Sans"/>
              </a:rPr>
              <a:t>pngtree.com</a:t>
            </a:r>
            <a:endParaRPr/>
          </a:p>
        </p:txBody>
      </p:sp>
      <p:sp>
        <p:nvSpPr>
          <p:cNvPr id="507" name="Google Shape;507;p38"/>
          <p:cNvSpPr txBox="1"/>
          <p:nvPr/>
        </p:nvSpPr>
        <p:spPr>
          <a:xfrm>
            <a:off x="942975" y="581025"/>
            <a:ext cx="11001375" cy="356145"/>
          </a:xfrm>
          <a:prstGeom prst="rect">
            <a:avLst/>
          </a:prstGeom>
          <a:noFill/>
          <a:ln>
            <a:noFill/>
          </a:ln>
        </p:spPr>
        <p:txBody>
          <a:bodyPr spcFirstLastPara="1" wrap="square" lIns="0" tIns="0" rIns="0" bIns="0" anchor="t" anchorCtr="0">
            <a:spAutoFit/>
          </a:bodyPr>
          <a:lstStyle/>
          <a:p>
            <a:pPr marL="0" marR="0" lvl="0" indent="0" algn="l" rtl="0">
              <a:lnSpc>
                <a:spcPct val="109960"/>
              </a:lnSpc>
              <a:spcBef>
                <a:spcPts val="0"/>
              </a:spcBef>
              <a:spcAft>
                <a:spcPts val="0"/>
              </a:spcAft>
              <a:buNone/>
            </a:pPr>
            <a:r>
              <a:rPr lang="en-US" sz="2550" b="1" i="0" u="none" strike="noStrike" cap="none">
                <a:solidFill>
                  <a:srgbClr val="FFFFFF"/>
                </a:solidFill>
                <a:latin typeface="Space Grotesk"/>
                <a:ea typeface="Space Grotesk"/>
                <a:cs typeface="Space Grotesk"/>
                <a:sym typeface="Space Grotesk"/>
              </a:rPr>
              <a:t>Image Sources</a:t>
            </a:r>
            <a:endParaRPr/>
          </a:p>
        </p:txBody>
      </p:sp>
      <p:sp>
        <p:nvSpPr>
          <p:cNvPr id="508" name="Google Shape;508;p38"/>
          <p:cNvSpPr/>
          <p:nvPr/>
        </p:nvSpPr>
        <p:spPr>
          <a:xfrm>
            <a:off x="771525" y="581025"/>
            <a:ext cx="47625" cy="356145"/>
          </a:xfrm>
          <a:prstGeom prst="rect">
            <a:avLst/>
          </a:prstGeom>
          <a:solidFill>
            <a:srgbClr val="0EA5E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1298</Words>
  <Application>Microsoft Office PowerPoint</Application>
  <PresentationFormat>Widescreen</PresentationFormat>
  <Paragraphs>168</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Space Grotesk</vt:lpstr>
      <vt:lpstr>Plus Jakarta Sans</vt:lpstr>
      <vt:lpstr>Arial</vt:lpstr>
      <vt:lpstr>Plus Jakarta Sans SemiBold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ABDU11AH MHMD</cp:lastModifiedBy>
  <cp:revision>3</cp:revision>
  <dcterms:modified xsi:type="dcterms:W3CDTF">2026-07-09T02:42:05Z</dcterms:modified>
</cp:coreProperties>
</file>